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3" r:id="rId3"/>
    <p:sldId id="351" r:id="rId4"/>
    <p:sldId id="349" r:id="rId5"/>
    <p:sldId id="350" r:id="rId6"/>
    <p:sldId id="336" r:id="rId7"/>
    <p:sldId id="352" r:id="rId8"/>
    <p:sldId id="353" r:id="rId9"/>
    <p:sldId id="354" r:id="rId10"/>
    <p:sldId id="355" r:id="rId11"/>
    <p:sldId id="356" r:id="rId1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71" autoAdjust="0"/>
  </p:normalViewPr>
  <p:slideViewPr>
    <p:cSldViewPr>
      <p:cViewPr varScale="1">
        <p:scale>
          <a:sx n="70" d="100"/>
          <a:sy n="70" d="100"/>
        </p:scale>
        <p:origin x="-13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077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333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4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726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868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124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424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034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1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436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99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27246-92ED-4D73-BA48-5C6718EEC269}" type="datetimeFigureOut">
              <a:rPr lang="es-AR" smtClean="0"/>
              <a:t>13/05/2024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896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1"/>
            <a:endParaRPr lang="es-AR" smtClean="0"/>
          </a:p>
        </p:txBody>
      </p:sp>
    </p:spTree>
    <p:extLst>
      <p:ext uri="{BB962C8B-B14F-4D97-AF65-F5344CB8AC3E}">
        <p14:creationId xmlns:p14="http://schemas.microsoft.com/office/powerpoint/2010/main" val="81792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No se tiene </a:t>
            </a:r>
            <a:r>
              <a:rPr lang="es-AR" dirty="0" err="1" smtClean="0"/>
              <a:t>inversibilidad</a:t>
            </a:r>
            <a:r>
              <a:rPr lang="es-AR" dirty="0" smtClean="0"/>
              <a:t> si:</a:t>
            </a:r>
          </a:p>
          <a:p>
            <a:pPr lvl="1"/>
            <a:r>
              <a:rPr lang="es-AR" dirty="0" smtClean="0"/>
              <a:t>Hechos con variables.</a:t>
            </a:r>
          </a:p>
          <a:p>
            <a:pPr lvl="1"/>
            <a:r>
              <a:rPr lang="es-AR" dirty="0" smtClean="0"/>
              <a:t>Comparación por distinto</a:t>
            </a:r>
          </a:p>
          <a:p>
            <a:pPr lvl="1"/>
            <a:r>
              <a:rPr lang="es-AR" dirty="0" smtClean="0"/>
              <a:t>Negación (dado que no liga variables)</a:t>
            </a:r>
          </a:p>
          <a:p>
            <a:pPr lvl="1"/>
            <a:r>
              <a:rPr lang="es-AR" dirty="0" smtClean="0"/>
              <a:t>&gt;, &gt;=, &lt;, &lt;=</a:t>
            </a:r>
          </a:p>
          <a:p>
            <a:pPr lvl="1"/>
            <a:r>
              <a:rPr lang="es-AR" dirty="0" err="1" smtClean="0"/>
              <a:t>Is</a:t>
            </a:r>
            <a:r>
              <a:rPr lang="es-AR" dirty="0" smtClean="0"/>
              <a:t>/2</a:t>
            </a:r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59059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AR" dirty="0" smtClean="0"/>
              <a:t>Cuantificador Universal</a:t>
            </a:r>
          </a:p>
          <a:p>
            <a:pPr lvl="1"/>
            <a:r>
              <a:rPr lang="es-AR" dirty="0" smtClean="0"/>
              <a:t>El cuantificador universal no es irreversible y por lo tanto se debe instanciar las variables para que el predicado donde se lo usa sea irreversible.</a:t>
            </a:r>
          </a:p>
          <a:p>
            <a:pPr lvl="1"/>
            <a:r>
              <a:rPr lang="es-AR" dirty="0" smtClean="0"/>
              <a:t>Ejemplo:</a:t>
            </a:r>
          </a:p>
          <a:p>
            <a:pPr lvl="2"/>
            <a:r>
              <a:rPr lang="pt-PT" dirty="0" smtClean="0"/>
              <a:t>animal(leon).</a:t>
            </a:r>
          </a:p>
          <a:p>
            <a:pPr lvl="2"/>
            <a:r>
              <a:rPr lang="pt-PT" dirty="0"/>
              <a:t>a</a:t>
            </a:r>
            <a:r>
              <a:rPr lang="pt-PT" dirty="0" smtClean="0"/>
              <a:t>nimal(oso).</a:t>
            </a:r>
          </a:p>
          <a:p>
            <a:pPr lvl="2"/>
            <a:r>
              <a:rPr lang="pt-PT" dirty="0" smtClean="0"/>
              <a:t>habita(leon, selva).</a:t>
            </a:r>
          </a:p>
          <a:p>
            <a:pPr lvl="2"/>
            <a:r>
              <a:rPr lang="pt-PT" dirty="0" smtClean="0"/>
              <a:t>habita(oso, artico).</a:t>
            </a:r>
          </a:p>
          <a:p>
            <a:pPr lvl="2"/>
            <a:r>
              <a:rPr lang="pt-PT" dirty="0" smtClean="0"/>
              <a:t>templado(selva).</a:t>
            </a:r>
          </a:p>
          <a:p>
            <a:pPr lvl="2"/>
            <a:r>
              <a:rPr lang="pt-PT" dirty="0" smtClean="0"/>
              <a:t>friolento(Animal) :- animal(Animal), </a:t>
            </a:r>
            <a:br>
              <a:rPr lang="pt-PT" dirty="0" smtClean="0"/>
            </a:br>
            <a:r>
              <a:rPr lang="pt-PT" dirty="0" smtClean="0"/>
              <a:t>       forall(habitat(Animal</a:t>
            </a:r>
            <a:r>
              <a:rPr lang="pt-PT" dirty="0"/>
              <a:t>, Bioma), templado(Bioma))</a:t>
            </a:r>
            <a:endParaRPr lang="es-AR" dirty="0"/>
          </a:p>
          <a:p>
            <a:pPr lvl="2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57496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1"/>
          </a:xfrm>
        </p:spPr>
        <p:txBody>
          <a:bodyPr>
            <a:normAutofit fontScale="92500" lnSpcReduction="20000"/>
          </a:bodyPr>
          <a:lstStyle/>
          <a:p>
            <a:r>
              <a:rPr lang="pt-PT" dirty="0" smtClean="0"/>
              <a:t>Cuantificador Universal</a:t>
            </a:r>
          </a:p>
          <a:p>
            <a:pPr lvl="1"/>
            <a:r>
              <a:rPr lang="pt-PT" dirty="0" smtClean="0"/>
              <a:t>forall/2</a:t>
            </a:r>
          </a:p>
          <a:p>
            <a:pPr lvl="1"/>
            <a:endParaRPr lang="pt-PT" dirty="0"/>
          </a:p>
          <a:p>
            <a:pPr lvl="1"/>
            <a:endParaRPr lang="es-AR" dirty="0" smtClean="0"/>
          </a:p>
          <a:p>
            <a:endParaRPr lang="es-AR" dirty="0" smtClean="0"/>
          </a:p>
          <a:p>
            <a:pPr lvl="1"/>
            <a:endParaRPr lang="pt-PT" dirty="0" smtClean="0"/>
          </a:p>
          <a:p>
            <a:pPr lvl="1"/>
            <a:r>
              <a:rPr lang="pt-PT" dirty="0"/>
              <a:t>f</a:t>
            </a:r>
            <a:r>
              <a:rPr lang="pt-PT" dirty="0" smtClean="0"/>
              <a:t>orall(habitat(Animal, Bioma), templado(Bioma))</a:t>
            </a:r>
          </a:p>
          <a:p>
            <a:r>
              <a:rPr lang="pt-PT" dirty="0" smtClean="0"/>
              <a:t>Relacion con la negación (not/1)</a:t>
            </a:r>
          </a:p>
          <a:p>
            <a:pPr lvl="1"/>
            <a:endParaRPr lang="es-AR" dirty="0" smtClean="0"/>
          </a:p>
          <a:p>
            <a:pPr lvl="1"/>
            <a:endParaRPr lang="es-AR" dirty="0"/>
          </a:p>
          <a:p>
            <a:pPr lvl="1"/>
            <a:r>
              <a:rPr lang="es-AR" dirty="0" err="1" smtClean="0"/>
              <a:t>Not</a:t>
            </a:r>
            <a:r>
              <a:rPr lang="es-AR" dirty="0" smtClean="0"/>
              <a:t>((animal(X), </a:t>
            </a:r>
            <a:r>
              <a:rPr lang="es-AR" dirty="0" err="1" smtClean="0"/>
              <a:t>not</a:t>
            </a:r>
            <a:r>
              <a:rPr lang="es-AR" dirty="0"/>
              <a:t> </a:t>
            </a:r>
            <a:r>
              <a:rPr lang="es-AR" dirty="0" smtClean="0"/>
              <a:t>friolento(X)))</a:t>
            </a:r>
          </a:p>
          <a:p>
            <a:pPr lvl="1"/>
            <a:r>
              <a:rPr lang="es-AR" dirty="0" err="1" smtClean="0"/>
              <a:t>Forall</a:t>
            </a:r>
            <a:r>
              <a:rPr lang="es-AR" dirty="0" smtClean="0"/>
              <a:t>(animal(X), friolento(X))</a:t>
            </a:r>
            <a:endParaRPr lang="es-AR" dirty="0"/>
          </a:p>
          <a:p>
            <a:pPr marL="457200" lvl="1" indent="0">
              <a:buNone/>
            </a:pPr>
            <a:endParaRPr lang="es-AR" dirty="0"/>
          </a:p>
          <a:p>
            <a:pPr lvl="1"/>
            <a:endParaRPr lang="es-A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734004"/>
            <a:ext cx="15811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924944"/>
            <a:ext cx="16287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703" y="2167054"/>
            <a:ext cx="3190449" cy="1866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585" y="4941168"/>
            <a:ext cx="41529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906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 err="1" smtClean="0"/>
              <a:t>not</a:t>
            </a:r>
            <a:r>
              <a:rPr lang="es-AR" dirty="0" smtClean="0"/>
              <a:t> vs </a:t>
            </a:r>
            <a:r>
              <a:rPr lang="es-AR" dirty="0" err="1" smtClean="0"/>
              <a:t>forall</a:t>
            </a:r>
            <a:endParaRPr lang="es-AR" dirty="0" smtClean="0"/>
          </a:p>
          <a:p>
            <a:pPr lvl="1"/>
            <a:endParaRPr lang="es-AR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132856"/>
            <a:ext cx="8256279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19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77500" lnSpcReduction="20000"/>
          </a:bodyPr>
          <a:lstStyle/>
          <a:p>
            <a:r>
              <a:rPr lang="es-AR" sz="3500" dirty="0" smtClean="0"/>
              <a:t>Ejercicio 1:Dado el predicado come/2 que relaciona a un animal con otro al cual se come, modelar los siguientes predicados:</a:t>
            </a:r>
          </a:p>
          <a:p>
            <a:pPr lvl="1"/>
            <a:r>
              <a:rPr lang="es-AR" dirty="0" smtClean="0"/>
              <a:t>Hostil/1: Relaciona un animal con un bioma si todos los animales que lo habitan se lo comen.</a:t>
            </a:r>
          </a:p>
          <a:p>
            <a:pPr lvl="1"/>
            <a:r>
              <a:rPr lang="es-AR" dirty="0" smtClean="0"/>
              <a:t>Terrible/1: </a:t>
            </a:r>
            <a:r>
              <a:rPr lang="es-AR" dirty="0"/>
              <a:t>Relaciona un animal con un bioma si todos los animales que </a:t>
            </a:r>
            <a:r>
              <a:rPr lang="es-AR" dirty="0" smtClean="0"/>
              <a:t>se lo comen habitan ahí.</a:t>
            </a:r>
          </a:p>
          <a:p>
            <a:pPr lvl="1"/>
            <a:r>
              <a:rPr lang="es-AR" dirty="0" smtClean="0"/>
              <a:t>Compatibles/2: Relaciona dos animales si ninguno de los dos se come al otro.</a:t>
            </a:r>
          </a:p>
          <a:p>
            <a:pPr lvl="1"/>
            <a:r>
              <a:rPr lang="es-AR" dirty="0" smtClean="0"/>
              <a:t>Adaptable/1: Se cumple para todos los animales que habitan en todos los biomas.</a:t>
            </a:r>
          </a:p>
          <a:p>
            <a:pPr lvl="1"/>
            <a:r>
              <a:rPr lang="es-AR" dirty="0" smtClean="0"/>
              <a:t>Raro/1: Se cumple para todos los animales que habitan en un único bioma.</a:t>
            </a:r>
          </a:p>
          <a:p>
            <a:pPr lvl="1"/>
            <a:r>
              <a:rPr lang="es-AR" dirty="0" smtClean="0"/>
              <a:t>Dominante/1: Se cumple para todos los animales que se comen a todos los otros animales del bioma en el </a:t>
            </a:r>
            <a:r>
              <a:rPr lang="es-AR" smtClean="0"/>
              <a:t>que viven.</a:t>
            </a:r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62104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70000" lnSpcReduction="20000"/>
          </a:bodyPr>
          <a:lstStyle/>
          <a:p>
            <a:r>
              <a:rPr lang="es-AR" sz="3500" dirty="0" smtClean="0"/>
              <a:t>Hasta ahora</a:t>
            </a:r>
          </a:p>
          <a:p>
            <a:pPr lvl="1"/>
            <a:r>
              <a:rPr lang="es-AR" sz="3100" dirty="0" smtClean="0"/>
              <a:t>Individuos simples:</a:t>
            </a:r>
          </a:p>
          <a:p>
            <a:pPr lvl="2"/>
            <a:r>
              <a:rPr lang="es-AR" sz="2700" dirty="0" smtClean="0"/>
              <a:t>Átomos, Números</a:t>
            </a:r>
          </a:p>
          <a:p>
            <a:pPr lvl="2"/>
            <a:r>
              <a:rPr lang="es-AR" sz="2700" dirty="0" smtClean="0"/>
              <a:t>Predicados con </a:t>
            </a:r>
            <a:r>
              <a:rPr lang="es-AR" sz="2700" dirty="0" err="1" smtClean="0"/>
              <a:t>aridad</a:t>
            </a:r>
            <a:r>
              <a:rPr lang="es-AR" sz="2700" dirty="0" smtClean="0"/>
              <a:t> – Propiedades y Relaciones</a:t>
            </a:r>
          </a:p>
          <a:p>
            <a:pPr lvl="2"/>
            <a:r>
              <a:rPr lang="es-AR" sz="2700" dirty="0" err="1" smtClean="0"/>
              <a:t>Inversibilidad</a:t>
            </a:r>
            <a:endParaRPr lang="es-AR" sz="2700" dirty="0" smtClean="0"/>
          </a:p>
          <a:p>
            <a:pPr lvl="2"/>
            <a:r>
              <a:rPr lang="es-AR" sz="2700" dirty="0" smtClean="0"/>
              <a:t>Comparaciones</a:t>
            </a:r>
          </a:p>
          <a:p>
            <a:pPr lvl="2"/>
            <a:r>
              <a:rPr lang="es-AR" sz="2700" dirty="0" err="1" smtClean="0"/>
              <a:t>Is</a:t>
            </a:r>
            <a:endParaRPr lang="es-AR" sz="2700" dirty="0" smtClean="0"/>
          </a:p>
          <a:p>
            <a:pPr lvl="2"/>
            <a:r>
              <a:rPr lang="es-AR" sz="2700" dirty="0" err="1" smtClean="0"/>
              <a:t>Not</a:t>
            </a:r>
            <a:r>
              <a:rPr lang="es-AR" sz="2700" dirty="0" smtClean="0"/>
              <a:t> (No enviar variables libres)</a:t>
            </a:r>
          </a:p>
          <a:p>
            <a:pPr lvl="2"/>
            <a:r>
              <a:rPr lang="es-AR" sz="2700" dirty="0" err="1" smtClean="0"/>
              <a:t>For</a:t>
            </a:r>
            <a:r>
              <a:rPr lang="es-AR" sz="2700" dirty="0" err="1" smtClean="0"/>
              <a:t>All</a:t>
            </a:r>
            <a:r>
              <a:rPr lang="es-AR" sz="2700" dirty="0" smtClean="0"/>
              <a:t> (Cuidado con la variables libres)</a:t>
            </a:r>
            <a:endParaRPr lang="es-AR" sz="2700" dirty="0" smtClean="0"/>
          </a:p>
          <a:p>
            <a:r>
              <a:rPr lang="es-AR" sz="3500" dirty="0" smtClean="0"/>
              <a:t>Los </a:t>
            </a:r>
            <a:r>
              <a:rPr lang="es-AR" sz="3500" dirty="0" err="1" smtClean="0"/>
              <a:t>functores</a:t>
            </a:r>
            <a:r>
              <a:rPr lang="es-AR" sz="3500" dirty="0" smtClean="0"/>
              <a:t>: Individuos compuestos</a:t>
            </a:r>
          </a:p>
          <a:p>
            <a:pPr lvl="1"/>
            <a:r>
              <a:rPr lang="es-AR" sz="3100" dirty="0" smtClean="0"/>
              <a:t>Agrupa valores para armar un nuevo elemento</a:t>
            </a:r>
          </a:p>
          <a:p>
            <a:pPr lvl="1"/>
            <a:r>
              <a:rPr lang="es-AR" sz="3100" dirty="0" smtClean="0"/>
              <a:t>Ejemplo:</a:t>
            </a:r>
          </a:p>
          <a:p>
            <a:pPr lvl="2"/>
            <a:r>
              <a:rPr lang="es-AR" sz="2700" dirty="0"/>
              <a:t>c</a:t>
            </a:r>
            <a:r>
              <a:rPr lang="es-AR" sz="2700" dirty="0" smtClean="0"/>
              <a:t>arta(</a:t>
            </a:r>
            <a:r>
              <a:rPr lang="es-AR" sz="2700" dirty="0" err="1" smtClean="0"/>
              <a:t>Numero,Palo</a:t>
            </a:r>
            <a:r>
              <a:rPr lang="es-AR" sz="2700" dirty="0" smtClean="0"/>
              <a:t>) sería un </a:t>
            </a:r>
            <a:r>
              <a:rPr lang="es-AR" sz="2700" dirty="0" err="1" smtClean="0"/>
              <a:t>functor</a:t>
            </a:r>
            <a:r>
              <a:rPr lang="es-AR" sz="2700" dirty="0" smtClean="0"/>
              <a:t>.</a:t>
            </a:r>
          </a:p>
          <a:p>
            <a:pPr lvl="2"/>
            <a:r>
              <a:rPr lang="es-AR" sz="2700" dirty="0"/>
              <a:t>m</a:t>
            </a:r>
            <a:r>
              <a:rPr lang="es-AR" sz="2700" dirty="0" smtClean="0"/>
              <a:t>ata(carta(1,	espada), carta(1, basto))</a:t>
            </a:r>
          </a:p>
          <a:p>
            <a:pPr lvl="1"/>
            <a:r>
              <a:rPr lang="es-AR" sz="3100" dirty="0" smtClean="0"/>
              <a:t>Carta es un </a:t>
            </a:r>
            <a:r>
              <a:rPr lang="es-AR" sz="3100" dirty="0" err="1" smtClean="0"/>
              <a:t>functor</a:t>
            </a:r>
            <a:r>
              <a:rPr lang="es-AR" sz="3100" dirty="0" smtClean="0"/>
              <a:t> y mata es una relación de </a:t>
            </a:r>
            <a:r>
              <a:rPr lang="es-AR" sz="3100" dirty="0" err="1" smtClean="0"/>
              <a:t>aridad</a:t>
            </a:r>
            <a:r>
              <a:rPr lang="es-AR" sz="3100" dirty="0" smtClean="0"/>
              <a:t> 2.</a:t>
            </a:r>
          </a:p>
          <a:p>
            <a:r>
              <a:rPr lang="es-AR" sz="3500" dirty="0" smtClean="0"/>
              <a:t>Armar las cartas y sus relaciones para jugar al Truco</a:t>
            </a:r>
          </a:p>
          <a:p>
            <a:endParaRPr lang="es-AR" sz="3500" dirty="0" smtClean="0"/>
          </a:p>
          <a:p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72587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328592"/>
          </a:xfrm>
        </p:spPr>
        <p:txBody>
          <a:bodyPr>
            <a:normAutofit fontScale="70000" lnSpcReduction="20000"/>
          </a:bodyPr>
          <a:lstStyle/>
          <a:p>
            <a:r>
              <a:rPr lang="pt-PT" sz="3500" dirty="0" smtClean="0"/>
              <a:t>Cartas de truco:</a:t>
            </a:r>
            <a:endParaRPr lang="es-AR" sz="3500" dirty="0" smtClean="0"/>
          </a:p>
          <a:p>
            <a:pPr lvl="1"/>
            <a:r>
              <a:rPr lang="es-AR" sz="3100" dirty="0" err="1" smtClean="0"/>
              <a:t>valeMas</a:t>
            </a:r>
            <a:r>
              <a:rPr lang="es-AR" sz="3100" dirty="0" smtClean="0"/>
              <a:t>(carta(1,espada), carta(1,basto)).</a:t>
            </a:r>
          </a:p>
          <a:p>
            <a:pPr lvl="1"/>
            <a:r>
              <a:rPr lang="es-AR" sz="3100" dirty="0" err="1"/>
              <a:t>valeMas</a:t>
            </a:r>
            <a:r>
              <a:rPr lang="es-AR" sz="3100" dirty="0" smtClean="0"/>
              <a:t>(carta(1,basto), carta(7,espada)).</a:t>
            </a:r>
            <a:endParaRPr lang="es-AR" sz="3100" dirty="0"/>
          </a:p>
          <a:p>
            <a:pPr lvl="1"/>
            <a:r>
              <a:rPr lang="es-AR" sz="3100" dirty="0" err="1"/>
              <a:t>valeMas</a:t>
            </a:r>
            <a:r>
              <a:rPr lang="es-AR" sz="3100" dirty="0" smtClean="0"/>
              <a:t>(carta(7,espada</a:t>
            </a:r>
            <a:r>
              <a:rPr lang="es-AR" sz="3100" dirty="0"/>
              <a:t>), </a:t>
            </a:r>
            <a:r>
              <a:rPr lang="es-AR" sz="3100" dirty="0" smtClean="0"/>
              <a:t>carta(7,oro)).</a:t>
            </a:r>
            <a:endParaRPr lang="es-AR" sz="3100" dirty="0"/>
          </a:p>
          <a:p>
            <a:pPr lvl="1"/>
            <a:r>
              <a:rPr lang="es-AR" sz="3100" dirty="0" err="1"/>
              <a:t>valeMas</a:t>
            </a:r>
            <a:r>
              <a:rPr lang="es-AR" sz="3100" dirty="0" smtClean="0"/>
              <a:t>(carta(7,oro), carta(3,_)).</a:t>
            </a:r>
            <a:endParaRPr lang="es-AR" sz="3100" dirty="0"/>
          </a:p>
          <a:p>
            <a:pPr lvl="1"/>
            <a:r>
              <a:rPr lang="es-AR" sz="3100" dirty="0" err="1"/>
              <a:t>valeMas</a:t>
            </a:r>
            <a:r>
              <a:rPr lang="es-AR" sz="3100" dirty="0" smtClean="0"/>
              <a:t>(carta(3,_), carta(2,_)).</a:t>
            </a:r>
            <a:endParaRPr lang="es-AR" sz="3100" dirty="0"/>
          </a:p>
          <a:p>
            <a:pPr lvl="1"/>
            <a:r>
              <a:rPr lang="es-AR" sz="3100" dirty="0" err="1"/>
              <a:t>valeMas</a:t>
            </a:r>
            <a:r>
              <a:rPr lang="es-AR" sz="3100" dirty="0" smtClean="0"/>
              <a:t>(carta(2,_), As):- </a:t>
            </a:r>
            <a:r>
              <a:rPr lang="es-AR" sz="3100" dirty="0" err="1" smtClean="0"/>
              <a:t>falsoAs</a:t>
            </a:r>
            <a:r>
              <a:rPr lang="es-AR" sz="3100" dirty="0" smtClean="0"/>
              <a:t>(As).</a:t>
            </a:r>
          </a:p>
          <a:p>
            <a:pPr lvl="1"/>
            <a:r>
              <a:rPr lang="pt-PT" sz="3100" dirty="0" smtClean="0"/>
              <a:t>valeMas(As,carta(12,</a:t>
            </a:r>
            <a:r>
              <a:rPr lang="es-AR" sz="3100" dirty="0" smtClean="0"/>
              <a:t>_):-</a:t>
            </a:r>
            <a:r>
              <a:rPr lang="es-AR" sz="3100" dirty="0" err="1" smtClean="0"/>
              <a:t>falsoAs</a:t>
            </a:r>
            <a:r>
              <a:rPr lang="es-AR" sz="3100" dirty="0" smtClean="0"/>
              <a:t>(As).</a:t>
            </a:r>
          </a:p>
          <a:p>
            <a:pPr lvl="1"/>
            <a:r>
              <a:rPr lang="es-AR" sz="3100" dirty="0" err="1" smtClean="0"/>
              <a:t>falsoAs</a:t>
            </a:r>
            <a:r>
              <a:rPr lang="es-AR" sz="3100" dirty="0" smtClean="0"/>
              <a:t>(carta(1,copa)).</a:t>
            </a:r>
          </a:p>
          <a:p>
            <a:pPr lvl="1"/>
            <a:r>
              <a:rPr lang="es-AR" sz="3100" dirty="0" err="1" smtClean="0"/>
              <a:t>falsoAs</a:t>
            </a:r>
            <a:r>
              <a:rPr lang="es-AR" sz="3100" dirty="0" smtClean="0"/>
              <a:t>(carta(1,oro)).</a:t>
            </a:r>
          </a:p>
          <a:p>
            <a:pPr lvl="1"/>
            <a:r>
              <a:rPr lang="es-AR" sz="3100" dirty="0" err="1" smtClean="0"/>
              <a:t>falsoSiete</a:t>
            </a:r>
            <a:r>
              <a:rPr lang="es-AR" sz="3100" dirty="0" smtClean="0"/>
              <a:t>(carta(7,copa)).</a:t>
            </a:r>
          </a:p>
          <a:p>
            <a:pPr lvl="1"/>
            <a:r>
              <a:rPr lang="es-AR" sz="3100" dirty="0" err="1" smtClean="0"/>
              <a:t>falsoSiete</a:t>
            </a:r>
            <a:r>
              <a:rPr lang="es-AR" sz="3100" dirty="0" smtClean="0"/>
              <a:t>(carta(7,basto)).</a:t>
            </a:r>
          </a:p>
          <a:p>
            <a:r>
              <a:rPr lang="es-AR" sz="3600" dirty="0" err="1"/>
              <a:t>valeMas</a:t>
            </a:r>
            <a:r>
              <a:rPr lang="pt-PT" sz="3500" dirty="0" smtClean="0"/>
              <a:t> es Inversibles?</a:t>
            </a:r>
          </a:p>
          <a:p>
            <a:pPr lvl="1"/>
            <a:r>
              <a:rPr lang="pt-PT" sz="2700" dirty="0" smtClean="0"/>
              <a:t>valeMas(carta(3,oro),Carta).</a:t>
            </a:r>
          </a:p>
          <a:p>
            <a:r>
              <a:rPr lang="pt-PT" sz="4000" dirty="0" smtClean="0"/>
              <a:t>Continuar con  el predicado valeMas.</a:t>
            </a:r>
          </a:p>
          <a:p>
            <a:pPr lvl="1"/>
            <a:endParaRPr lang="es-AR" sz="2700" dirty="0"/>
          </a:p>
        </p:txBody>
      </p:sp>
    </p:spTree>
    <p:extLst>
      <p:ext uri="{BB962C8B-B14F-4D97-AF65-F5344CB8AC3E}">
        <p14:creationId xmlns:p14="http://schemas.microsoft.com/office/powerpoint/2010/main" val="230684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77500" lnSpcReduction="20000"/>
          </a:bodyPr>
          <a:lstStyle/>
          <a:p>
            <a:r>
              <a:rPr lang="es-AR" sz="3500" dirty="0" smtClean="0"/>
              <a:t>Generador </a:t>
            </a:r>
            <a:r>
              <a:rPr lang="es-AR" sz="3500" dirty="0"/>
              <a:t>de cartas:</a:t>
            </a:r>
          </a:p>
          <a:p>
            <a:pPr lvl="1"/>
            <a:r>
              <a:rPr lang="es-AR" sz="3100" dirty="0" err="1"/>
              <a:t>cartaDeTruco</a:t>
            </a:r>
            <a:r>
              <a:rPr lang="es-AR" sz="3100" dirty="0"/>
              <a:t>(carta(</a:t>
            </a:r>
            <a:r>
              <a:rPr lang="es-AR" sz="3100" dirty="0" err="1"/>
              <a:t>Numero,Palo</a:t>
            </a:r>
            <a:r>
              <a:rPr lang="es-AR" sz="3100" dirty="0"/>
              <a:t>)</a:t>
            </a:r>
            <a:r>
              <a:rPr lang="pt-PT" sz="3100" dirty="0"/>
              <a:t>):- palo(Palo), numeroValido(Numero).</a:t>
            </a:r>
          </a:p>
          <a:p>
            <a:pPr lvl="1"/>
            <a:r>
              <a:rPr lang="pt-PT" sz="3100" dirty="0"/>
              <a:t>palo(basto).</a:t>
            </a:r>
          </a:p>
          <a:p>
            <a:pPr lvl="1"/>
            <a:r>
              <a:rPr lang="pt-PT" sz="3100" dirty="0"/>
              <a:t>palo(oro).</a:t>
            </a:r>
          </a:p>
          <a:p>
            <a:pPr lvl="1"/>
            <a:r>
              <a:rPr lang="pt-PT" sz="3100" dirty="0"/>
              <a:t>palo(espada).</a:t>
            </a:r>
          </a:p>
          <a:p>
            <a:pPr lvl="1"/>
            <a:r>
              <a:rPr lang="pt-PT" sz="3100" dirty="0"/>
              <a:t>palo(copa).</a:t>
            </a:r>
          </a:p>
          <a:p>
            <a:pPr lvl="1"/>
            <a:r>
              <a:rPr lang="pt-PT" sz="3100" dirty="0"/>
              <a:t>numeroValido(N):- between(1,12,N), not between(8,9,N</a:t>
            </a:r>
            <a:r>
              <a:rPr lang="pt-PT" sz="3100" dirty="0" smtClean="0"/>
              <a:t>).</a:t>
            </a:r>
          </a:p>
          <a:p>
            <a:r>
              <a:rPr lang="pt-PT" sz="3500" dirty="0" smtClean="0"/>
              <a:t>Nuevo predicado mata:</a:t>
            </a:r>
          </a:p>
          <a:p>
            <a:pPr lvl="1"/>
            <a:r>
              <a:rPr lang="pt-PT" sz="3100" dirty="0"/>
              <a:t>m</a:t>
            </a:r>
            <a:r>
              <a:rPr lang="pt-PT" sz="3100" dirty="0" smtClean="0"/>
              <a:t>ata(Mayor, Menor):-cartaDeTruco(Mayor), cartaDeTrucoMenor, valeMas(Mayor,Menor).</a:t>
            </a:r>
          </a:p>
          <a:p>
            <a:pPr lvl="1"/>
            <a:r>
              <a:rPr lang="pt-PT" sz="3100" dirty="0"/>
              <a:t>m</a:t>
            </a:r>
            <a:r>
              <a:rPr lang="pt-PT" sz="3100" dirty="0" smtClean="0"/>
              <a:t>ata(Mayor,Menor):-cartaDeTruco(Mayor), cartaDeTruco(Otra), valeMas(Mayor,Otra), mata(Otra,Menor).</a:t>
            </a:r>
            <a:endParaRPr lang="pt-PT" sz="3100" dirty="0"/>
          </a:p>
          <a:p>
            <a:endParaRPr lang="pt-PT" sz="3500" dirty="0" smtClean="0"/>
          </a:p>
          <a:p>
            <a:pPr lvl="1"/>
            <a:endParaRPr lang="es-AR" sz="3100" dirty="0"/>
          </a:p>
          <a:p>
            <a:endParaRPr lang="es-AR" sz="3500" dirty="0" smtClean="0"/>
          </a:p>
          <a:p>
            <a:endParaRPr lang="es-AR" sz="3500" dirty="0" smtClean="0"/>
          </a:p>
          <a:p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2221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92500" lnSpcReduction="10000"/>
          </a:bodyPr>
          <a:lstStyle/>
          <a:p>
            <a:r>
              <a:rPr lang="es-AR" sz="3500" dirty="0" err="1" smtClean="0"/>
              <a:t>Functores</a:t>
            </a:r>
            <a:r>
              <a:rPr lang="es-AR" sz="3500" dirty="0" smtClean="0"/>
              <a:t> y </a:t>
            </a:r>
            <a:r>
              <a:rPr lang="es-AR" sz="3500" dirty="0" err="1" smtClean="0"/>
              <a:t>Pattern</a:t>
            </a:r>
            <a:r>
              <a:rPr lang="es-AR" sz="3500" dirty="0" smtClean="0"/>
              <a:t> </a:t>
            </a:r>
            <a:r>
              <a:rPr lang="es-AR" sz="3500" dirty="0" err="1" smtClean="0"/>
              <a:t>Matching</a:t>
            </a:r>
            <a:endParaRPr lang="es-AR" sz="3500" dirty="0" smtClean="0"/>
          </a:p>
          <a:p>
            <a:pPr lvl="1"/>
            <a:r>
              <a:rPr lang="es-AR" sz="3100" dirty="0" smtClean="0"/>
              <a:t>Se puede armar un </a:t>
            </a:r>
            <a:r>
              <a:rPr lang="es-AR" sz="3100" dirty="0" err="1" smtClean="0"/>
              <a:t>functor</a:t>
            </a:r>
            <a:r>
              <a:rPr lang="es-AR" sz="3100" dirty="0" smtClean="0"/>
              <a:t> tanto en los hechos como en las reglas</a:t>
            </a:r>
          </a:p>
          <a:p>
            <a:pPr lvl="2"/>
            <a:r>
              <a:rPr lang="es-AR" sz="2700" dirty="0" smtClean="0"/>
              <a:t>Ejemplo:</a:t>
            </a:r>
          </a:p>
          <a:p>
            <a:pPr lvl="3"/>
            <a:r>
              <a:rPr lang="es-AR" sz="2300" dirty="0" err="1" smtClean="0"/>
              <a:t>valeMas</a:t>
            </a:r>
            <a:r>
              <a:rPr lang="es-AR" sz="2300" dirty="0" smtClean="0"/>
              <a:t>(carta(Figura1,_),carta(Figura2,_)):- </a:t>
            </a:r>
            <a:r>
              <a:rPr lang="es-AR" sz="2300" dirty="0" err="1" smtClean="0"/>
              <a:t>between</a:t>
            </a:r>
            <a:r>
              <a:rPr lang="es-AR" sz="2300" dirty="0" smtClean="0"/>
              <a:t>(11,12,Figura1), Figura2 </a:t>
            </a:r>
            <a:r>
              <a:rPr lang="es-AR" sz="2300" dirty="0" err="1" smtClean="0"/>
              <a:t>is</a:t>
            </a:r>
            <a:r>
              <a:rPr lang="es-AR" sz="2300" dirty="0" smtClean="0"/>
              <a:t> Figura1 - 1.</a:t>
            </a:r>
            <a:endParaRPr lang="es-AR" sz="2300" dirty="0"/>
          </a:p>
          <a:p>
            <a:r>
              <a:rPr lang="pt-PT" sz="3500" dirty="0" smtClean="0"/>
              <a:t>Consultas:</a:t>
            </a:r>
          </a:p>
          <a:p>
            <a:pPr lvl="1"/>
            <a:r>
              <a:rPr lang="pt-PT" sz="3100" dirty="0" smtClean="0"/>
              <a:t>De que palo son los 7 que matan al 2?</a:t>
            </a:r>
          </a:p>
          <a:p>
            <a:pPr lvl="2"/>
            <a:r>
              <a:rPr lang="pt-PT" sz="2700" dirty="0"/>
              <a:t>m</a:t>
            </a:r>
            <a:r>
              <a:rPr lang="pt-PT" sz="2700" dirty="0" smtClean="0"/>
              <a:t>ata(carta(7,Palo),carta(2,_)).</a:t>
            </a:r>
          </a:p>
          <a:p>
            <a:pPr lvl="1"/>
            <a:r>
              <a:rPr lang="pt-PT" sz="3100" dirty="0" smtClean="0"/>
              <a:t>Es cierto que los 4 no matan a ninguna carta?</a:t>
            </a:r>
          </a:p>
          <a:p>
            <a:pPr lvl="2"/>
            <a:r>
              <a:rPr lang="pt-PT" sz="2700" dirty="0"/>
              <a:t>n</a:t>
            </a:r>
            <a:r>
              <a:rPr lang="pt-PT" sz="2700" dirty="0" smtClean="0"/>
              <a:t>ot (mata(carta(4,_),_)).</a:t>
            </a:r>
          </a:p>
          <a:p>
            <a:pPr lvl="1"/>
            <a:endParaRPr lang="es-AR" sz="3100" dirty="0"/>
          </a:p>
          <a:p>
            <a:endParaRPr lang="es-AR" sz="3500" dirty="0" smtClean="0"/>
          </a:p>
          <a:p>
            <a:endParaRPr lang="es-AR" sz="3500" dirty="0" smtClean="0"/>
          </a:p>
          <a:p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94266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Paradigmas de Programación Lógico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92500" lnSpcReduction="10000"/>
          </a:bodyPr>
          <a:lstStyle/>
          <a:p>
            <a:r>
              <a:rPr lang="es-AR" sz="3500" dirty="0" err="1" smtClean="0"/>
              <a:t>Functores</a:t>
            </a:r>
            <a:r>
              <a:rPr lang="es-AR" sz="3500" dirty="0" smtClean="0"/>
              <a:t> y </a:t>
            </a:r>
            <a:r>
              <a:rPr lang="es-AR" sz="3500" dirty="0" err="1" smtClean="0"/>
              <a:t>Pattern</a:t>
            </a:r>
            <a:r>
              <a:rPr lang="es-AR" sz="3500" dirty="0" smtClean="0"/>
              <a:t> </a:t>
            </a:r>
            <a:r>
              <a:rPr lang="es-AR" sz="3500" dirty="0" err="1" smtClean="0"/>
              <a:t>Matching</a:t>
            </a:r>
            <a:endParaRPr lang="es-AR" sz="3500" dirty="0" smtClean="0"/>
          </a:p>
          <a:p>
            <a:pPr lvl="1"/>
            <a:r>
              <a:rPr lang="es-AR" sz="3100" dirty="0" smtClean="0"/>
              <a:t>Se puede armar un </a:t>
            </a:r>
            <a:r>
              <a:rPr lang="es-AR" sz="3100" dirty="0" err="1" smtClean="0"/>
              <a:t>functor</a:t>
            </a:r>
            <a:r>
              <a:rPr lang="es-AR" sz="3100" dirty="0" smtClean="0"/>
              <a:t> tanto en los hechos como en las reglas</a:t>
            </a:r>
          </a:p>
          <a:p>
            <a:pPr lvl="2"/>
            <a:r>
              <a:rPr lang="es-AR" sz="2700" dirty="0" smtClean="0"/>
              <a:t>Ejemplo:</a:t>
            </a:r>
          </a:p>
          <a:p>
            <a:pPr lvl="3"/>
            <a:r>
              <a:rPr lang="es-AR" sz="2300" dirty="0" err="1" smtClean="0"/>
              <a:t>valeMas</a:t>
            </a:r>
            <a:r>
              <a:rPr lang="es-AR" sz="2300" dirty="0" smtClean="0"/>
              <a:t>(carta(Figura1,_),carta(Figura2,_)):- </a:t>
            </a:r>
            <a:r>
              <a:rPr lang="es-AR" sz="2300" dirty="0" err="1" smtClean="0"/>
              <a:t>between</a:t>
            </a:r>
            <a:r>
              <a:rPr lang="es-AR" sz="2300" dirty="0" smtClean="0"/>
              <a:t>(11,12,Figura1), Figura2 </a:t>
            </a:r>
            <a:r>
              <a:rPr lang="es-AR" sz="2300" dirty="0" err="1" smtClean="0"/>
              <a:t>is</a:t>
            </a:r>
            <a:r>
              <a:rPr lang="es-AR" sz="2300" dirty="0" smtClean="0"/>
              <a:t> Figura1 - 1.</a:t>
            </a:r>
            <a:endParaRPr lang="es-AR" sz="2300" dirty="0"/>
          </a:p>
          <a:p>
            <a:r>
              <a:rPr lang="pt-PT" sz="3500" dirty="0" smtClean="0"/>
              <a:t>Consultas:</a:t>
            </a:r>
          </a:p>
          <a:p>
            <a:pPr lvl="1"/>
            <a:r>
              <a:rPr lang="pt-PT" sz="3100" dirty="0" smtClean="0"/>
              <a:t>De que palo son los 7 que matan al 2?</a:t>
            </a:r>
          </a:p>
          <a:p>
            <a:pPr lvl="2"/>
            <a:r>
              <a:rPr lang="pt-PT" sz="2700" dirty="0"/>
              <a:t>m</a:t>
            </a:r>
            <a:r>
              <a:rPr lang="pt-PT" sz="2700" dirty="0" smtClean="0"/>
              <a:t>ata(carta(7,Palo),carta(2,_)).</a:t>
            </a:r>
          </a:p>
          <a:p>
            <a:pPr lvl="1"/>
            <a:r>
              <a:rPr lang="pt-PT" sz="3100" dirty="0" smtClean="0"/>
              <a:t>Es cierto que los 4 no matan a ninguna carta?</a:t>
            </a:r>
          </a:p>
          <a:p>
            <a:pPr lvl="2"/>
            <a:r>
              <a:rPr lang="pt-PT" sz="2700" dirty="0"/>
              <a:t>n</a:t>
            </a:r>
            <a:r>
              <a:rPr lang="pt-PT" sz="2700" dirty="0" smtClean="0"/>
              <a:t>ot (mata(carta(4,_),_)).</a:t>
            </a:r>
          </a:p>
          <a:p>
            <a:pPr lvl="1"/>
            <a:endParaRPr lang="es-AR" sz="3100" dirty="0"/>
          </a:p>
          <a:p>
            <a:endParaRPr lang="es-AR" sz="3500" dirty="0" smtClean="0"/>
          </a:p>
          <a:p>
            <a:endParaRPr lang="es-AR" sz="3500" dirty="0" smtClean="0"/>
          </a:p>
          <a:p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280376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45074</TotalTime>
  <Words>562</Words>
  <Application>Microsoft Office PowerPoint</Application>
  <PresentationFormat>Presentación en pantalla (4:3)</PresentationFormat>
  <Paragraphs>140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Paradigmas de Programación</vt:lpstr>
      <vt:lpstr>Paradigmas de Programación</vt:lpstr>
      <vt:lpstr>Paradigmas de Programación</vt:lpstr>
      <vt:lpstr>Paradigmas de Programación Lógico</vt:lpstr>
      <vt:lpstr>Paradigmas de Programación Lógico</vt:lpstr>
      <vt:lpstr>Paradigmas de Programación Lógico</vt:lpstr>
      <vt:lpstr>Paradigmas de Programación Lógico</vt:lpstr>
      <vt:lpstr>Paradigmas de Programación Lógico</vt:lpstr>
      <vt:lpstr>Paradigmas de Programación Lógico</vt:lpstr>
      <vt:lpstr>Paradigmas de Programación Lógico</vt:lpstr>
      <vt:lpstr>Paradigmas de Programación Lógico</vt:lpstr>
    </vt:vector>
  </TitlesOfParts>
  <Company>ARG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dc:creator>ARG</dc:creator>
  <cp:lastModifiedBy>ARG</cp:lastModifiedBy>
  <cp:revision>224</cp:revision>
  <dcterms:created xsi:type="dcterms:W3CDTF">2024-03-08T18:13:29Z</dcterms:created>
  <dcterms:modified xsi:type="dcterms:W3CDTF">2024-05-15T00:00:05Z</dcterms:modified>
</cp:coreProperties>
</file>
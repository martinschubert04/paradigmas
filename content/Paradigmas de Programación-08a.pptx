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3" r:id="rId3"/>
    <p:sldId id="324" r:id="rId4"/>
    <p:sldId id="325" r:id="rId5"/>
    <p:sldId id="326" r:id="rId6"/>
    <p:sldId id="328" r:id="rId7"/>
    <p:sldId id="327" r:id="rId8"/>
    <p:sldId id="329" r:id="rId9"/>
    <p:sldId id="330" r:id="rId10"/>
    <p:sldId id="331" r:id="rId11"/>
    <p:sldId id="332" r:id="rId12"/>
    <p:sldId id="333" r:id="rId13"/>
    <p:sldId id="342" r:id="rId14"/>
    <p:sldId id="335" r:id="rId15"/>
    <p:sldId id="334" r:id="rId16"/>
    <p:sldId id="338" r:id="rId17"/>
    <p:sldId id="344" r:id="rId18"/>
    <p:sldId id="343" r:id="rId19"/>
    <p:sldId id="341" r:id="rId20"/>
    <p:sldId id="345" r:id="rId21"/>
    <p:sldId id="349" r:id="rId22"/>
    <p:sldId id="336" r:id="rId23"/>
    <p:sldId id="337" r:id="rId24"/>
    <p:sldId id="339" r:id="rId25"/>
    <p:sldId id="340" r:id="rId26"/>
    <p:sldId id="346" r:id="rId27"/>
    <p:sldId id="347" r:id="rId28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71" autoAdjust="0"/>
  </p:normalViewPr>
  <p:slideViewPr>
    <p:cSldViewPr>
      <p:cViewPr varScale="1">
        <p:scale>
          <a:sx n="70" d="100"/>
          <a:sy n="70" d="100"/>
        </p:scale>
        <p:origin x="-137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0778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333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44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726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58682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1240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64246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034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912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4361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0990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896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1"/>
            <a:endParaRPr lang="es-AR" smtClean="0"/>
          </a:p>
        </p:txBody>
      </p:sp>
    </p:spTree>
    <p:extLst>
      <p:ext uri="{BB962C8B-B14F-4D97-AF65-F5344CB8AC3E}">
        <p14:creationId xmlns:p14="http://schemas.microsoft.com/office/powerpoint/2010/main" val="81792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AR" dirty="0" smtClean="0"/>
              <a:t>Paradigma de programación Lógico</a:t>
            </a:r>
          </a:p>
          <a:p>
            <a:pPr lvl="1"/>
            <a:r>
              <a:rPr lang="es-AR" dirty="0" smtClean="0"/>
              <a:t>Todo paradigma brinda un marco conceptual para resolver problemas, modelar estructuras de datos y generar algoritmos.</a:t>
            </a:r>
          </a:p>
          <a:p>
            <a:pPr lvl="1"/>
            <a:r>
              <a:rPr lang="es-AR" dirty="0" smtClean="0"/>
              <a:t>En el caso del paradigma lógico, se tiene una base de conocimiento que define el alcance, lo que forma el universo reconocido y el desconocido.</a:t>
            </a:r>
          </a:p>
          <a:p>
            <a:pPr lvl="1"/>
            <a:r>
              <a:rPr lang="es-AR" dirty="0" smtClean="0"/>
              <a:t>Se expresa mediante predicados, con </a:t>
            </a:r>
            <a:r>
              <a:rPr lang="es-AR" dirty="0" err="1" smtClean="0"/>
              <a:t>aridad</a:t>
            </a:r>
            <a:r>
              <a:rPr lang="es-AR" dirty="0"/>
              <a:t>/</a:t>
            </a:r>
            <a:r>
              <a:rPr lang="es-AR" dirty="0" smtClean="0"/>
              <a:t>1 (</a:t>
            </a:r>
            <a:r>
              <a:rPr lang="es-AR" dirty="0" err="1" smtClean="0"/>
              <a:t>monádicos</a:t>
            </a:r>
            <a:r>
              <a:rPr lang="es-AR" dirty="0" smtClean="0"/>
              <a:t>) se arma la base de conocimiento, expresando características o atributos de los individuos.</a:t>
            </a:r>
          </a:p>
          <a:p>
            <a:pPr lvl="1"/>
            <a:r>
              <a:rPr lang="es-AR" dirty="0" smtClean="0"/>
              <a:t>Los individuos son los elementos que forman parte del universo posible de predicados.</a:t>
            </a:r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359059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AR" dirty="0" smtClean="0"/>
              <a:t>Paradigma de programación Lógico</a:t>
            </a:r>
          </a:p>
          <a:p>
            <a:pPr lvl="1"/>
            <a:r>
              <a:rPr lang="es-AR" dirty="0" smtClean="0"/>
              <a:t>Al igual que el paradigma funcional, se utiliza la inferencia que permite derivar conclusiones a partir de las premisas, usando un motor de inferencia.</a:t>
            </a:r>
          </a:p>
          <a:p>
            <a:pPr lvl="1"/>
            <a:r>
              <a:rPr lang="es-AR" dirty="0" smtClean="0"/>
              <a:t>A diferencia del </a:t>
            </a:r>
            <a:r>
              <a:rPr lang="es-AR" dirty="0" err="1" smtClean="0"/>
              <a:t>Haskell</a:t>
            </a:r>
            <a:r>
              <a:rPr lang="es-AR" dirty="0" smtClean="0"/>
              <a:t>, cada consulta realizada debe terminar con un punto. Se puede escribir consultas de mas de una línea, solo se “ejecuta” cuando se utiliza el punto.</a:t>
            </a:r>
          </a:p>
          <a:p>
            <a:r>
              <a:rPr lang="es-AR" dirty="0" smtClean="0"/>
              <a:t>En resumen, una aplicación del Paradigma Lógico es una solución declarativa compuesta por:</a:t>
            </a:r>
          </a:p>
          <a:p>
            <a:pPr lvl="1"/>
            <a:r>
              <a:rPr lang="es-AR" dirty="0" smtClean="0"/>
              <a:t>Declaración de conocimiento </a:t>
            </a:r>
            <a:r>
              <a:rPr lang="es-AR" dirty="0" err="1" smtClean="0"/>
              <a:t>via</a:t>
            </a:r>
            <a:r>
              <a:rPr lang="es-AR" dirty="0" smtClean="0"/>
              <a:t> predicados</a:t>
            </a:r>
          </a:p>
          <a:p>
            <a:pPr lvl="1"/>
            <a:r>
              <a:rPr lang="es-AR" dirty="0" smtClean="0"/>
              <a:t>Consultas al motor de inferencias para sacar conclusiones.</a:t>
            </a:r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809003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AR" dirty="0" smtClean="0"/>
              <a:t>Paradigma de programación Lógico</a:t>
            </a:r>
          </a:p>
          <a:p>
            <a:pPr lvl="1"/>
            <a:r>
              <a:rPr lang="es-AR" dirty="0" smtClean="0"/>
              <a:t>Principio de Universo Cerrado</a:t>
            </a:r>
          </a:p>
          <a:p>
            <a:pPr lvl="2"/>
            <a:r>
              <a:rPr lang="es-AR" dirty="0" smtClean="0"/>
              <a:t>Al realizar un consulta sobre un individuo que no está en la base de conocimiento, se puede ver:</a:t>
            </a:r>
          </a:p>
          <a:p>
            <a:pPr lvl="3"/>
            <a:r>
              <a:rPr lang="es-AR" dirty="0" smtClean="0"/>
              <a:t>La afirmación consultada es FALSA</a:t>
            </a:r>
          </a:p>
          <a:p>
            <a:pPr lvl="3"/>
            <a:r>
              <a:rPr lang="es-AR" dirty="0" smtClean="0"/>
              <a:t>La afirmación consultada es DESCONOCIDAD</a:t>
            </a:r>
            <a:endParaRPr lang="es-AR" dirty="0"/>
          </a:p>
          <a:p>
            <a:pPr lvl="1"/>
            <a:r>
              <a:rPr lang="es-AR" dirty="0" smtClean="0"/>
              <a:t>Si se tiene tres estados Verdadera, False y Desconocida </a:t>
            </a:r>
            <a:r>
              <a:rPr lang="es-AR" dirty="0" smtClean="0">
                <a:sym typeface="Wingdings" panose="05000000000000000000" pitchFamily="2" charset="2"/>
              </a:rPr>
              <a:t> Universo Abierto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Si se considera a todo lo desconocido como FALSO  Universo Cerrado (</a:t>
            </a:r>
            <a:r>
              <a:rPr lang="es-AR" dirty="0" err="1" smtClean="0">
                <a:sym typeface="Wingdings" panose="05000000000000000000" pitchFamily="2" charset="2"/>
              </a:rPr>
              <a:t>Prolog</a:t>
            </a:r>
            <a:r>
              <a:rPr lang="es-AR" dirty="0" smtClean="0">
                <a:sym typeface="Wingdings" panose="05000000000000000000" pitchFamily="2" charset="2"/>
              </a:rPr>
              <a:t>, entre otros)</a:t>
            </a:r>
          </a:p>
          <a:p>
            <a:pPr lvl="2"/>
            <a:r>
              <a:rPr lang="es-AR" dirty="0" smtClean="0">
                <a:sym typeface="Wingdings" panose="05000000000000000000" pitchFamily="2" charset="2"/>
              </a:rPr>
              <a:t>Todos los hechos son falsos si no están en la base de conocimiento.</a:t>
            </a:r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271833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AR" dirty="0" smtClean="0"/>
              <a:t>Paradigma de programación Lógico</a:t>
            </a:r>
          </a:p>
          <a:p>
            <a:pPr lvl="1"/>
            <a:r>
              <a:rPr lang="es-AR" dirty="0" smtClean="0"/>
              <a:t>Predicados </a:t>
            </a:r>
            <a:r>
              <a:rPr lang="es-AR" dirty="0" err="1" smtClean="0"/>
              <a:t>poliádicos</a:t>
            </a:r>
            <a:endParaRPr lang="es-AR" dirty="0" smtClean="0"/>
          </a:p>
          <a:p>
            <a:pPr lvl="2"/>
            <a:r>
              <a:rPr lang="es-AR" b="1" dirty="0"/>
              <a:t>come</a:t>
            </a:r>
            <a:r>
              <a:rPr lang="es-AR" dirty="0"/>
              <a:t>(juan, ravioles).</a:t>
            </a:r>
            <a:br>
              <a:rPr lang="es-AR" dirty="0"/>
            </a:br>
            <a:r>
              <a:rPr lang="es-AR" b="1" dirty="0"/>
              <a:t>come</a:t>
            </a:r>
            <a:r>
              <a:rPr lang="es-AR" dirty="0"/>
              <a:t>(</a:t>
            </a:r>
            <a:r>
              <a:rPr lang="es-AR" dirty="0" err="1"/>
              <a:t>brenda</a:t>
            </a:r>
            <a:r>
              <a:rPr lang="es-AR" dirty="0"/>
              <a:t>, fideos).</a:t>
            </a:r>
            <a:br>
              <a:rPr lang="es-AR" dirty="0"/>
            </a:br>
            <a:r>
              <a:rPr lang="es-AR" b="1" dirty="0"/>
              <a:t>gusta</a:t>
            </a:r>
            <a:r>
              <a:rPr lang="es-AR" dirty="0"/>
              <a:t>(</a:t>
            </a:r>
            <a:r>
              <a:rPr lang="es-AR" dirty="0" err="1"/>
              <a:t>brenda</a:t>
            </a:r>
            <a:r>
              <a:rPr lang="es-AR" dirty="0"/>
              <a:t>, fideos</a:t>
            </a:r>
            <a:r>
              <a:rPr lang="es-AR" dirty="0" smtClean="0"/>
              <a:t>).</a:t>
            </a:r>
          </a:p>
          <a:p>
            <a:pPr lvl="1"/>
            <a:r>
              <a:rPr lang="es-AR" dirty="0" smtClean="0"/>
              <a:t>Un conjunto  de hechos para un mismo predicado forma una definición por extensión del predicado.</a:t>
            </a:r>
          </a:p>
          <a:p>
            <a:pPr lvl="1"/>
            <a:r>
              <a:rPr lang="es-AR" dirty="0" smtClean="0"/>
              <a:t>Se debe respetar el orden de la definición cuando se realiza las consultas.</a:t>
            </a:r>
          </a:p>
          <a:p>
            <a:pPr lvl="1"/>
            <a:r>
              <a:rPr lang="es-AR" dirty="0" smtClean="0"/>
              <a:t>En las consultas se puede usar variables </a:t>
            </a:r>
          </a:p>
          <a:p>
            <a:pPr lvl="2"/>
            <a:r>
              <a:rPr lang="es-AR" dirty="0" smtClean="0"/>
              <a:t>? come(_ Pastas)</a:t>
            </a:r>
          </a:p>
          <a:p>
            <a:pPr lvl="1"/>
            <a:r>
              <a:rPr lang="es-AR" dirty="0" smtClean="0"/>
              <a:t>Ante múltiples respuestas, con . o </a:t>
            </a:r>
            <a:r>
              <a:rPr lang="es-AR" dirty="0" err="1" smtClean="0"/>
              <a:t>Enter</a:t>
            </a:r>
            <a:r>
              <a:rPr lang="es-AR" dirty="0" smtClean="0"/>
              <a:t> se termina la consulta y con n o ; se piden las próximas respuestas.</a:t>
            </a:r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94104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AR" dirty="0" smtClean="0"/>
              <a:t>Paradigma de programación Lógico</a:t>
            </a:r>
          </a:p>
          <a:p>
            <a:pPr lvl="1"/>
            <a:r>
              <a:rPr lang="es-AR" dirty="0" smtClean="0"/>
              <a:t>Las consultas pueden ser de dos tipos:</a:t>
            </a:r>
          </a:p>
          <a:p>
            <a:pPr lvl="2"/>
            <a:r>
              <a:rPr lang="es-AR" dirty="0" smtClean="0"/>
              <a:t>Aquellas usadas para determinar si una relación específica se satisface o no, al instanciar todos los argumentos. (True / False)</a:t>
            </a:r>
          </a:p>
          <a:p>
            <a:pPr lvl="2"/>
            <a:r>
              <a:rPr lang="es-AR" dirty="0" smtClean="0"/>
              <a:t>Las existenciales, que permiten conocer los individuos que satisfacen una relación, o sea con algún argumento libre.</a:t>
            </a:r>
          </a:p>
          <a:p>
            <a:pPr lvl="2"/>
            <a:r>
              <a:rPr lang="es-AR" dirty="0" smtClean="0"/>
              <a:t>Un predicado es invertible cuando admite consultas con variables libres para sus argumentos.</a:t>
            </a:r>
          </a:p>
          <a:p>
            <a:pPr lvl="2"/>
            <a:r>
              <a:rPr lang="es-AR" dirty="0" smtClean="0"/>
              <a:t>Los predicados no devuelven valores. Una variable se transforma en incógnita que puede tener uno o mas valores.</a:t>
            </a:r>
          </a:p>
          <a:p>
            <a:pPr lvl="2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09029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Resolver </a:t>
            </a:r>
            <a:r>
              <a:rPr lang="es-AR" dirty="0"/>
              <a:t>un problema para una librería</a:t>
            </a:r>
          </a:p>
          <a:p>
            <a:pPr lvl="1"/>
            <a:r>
              <a:rPr lang="es-AR" dirty="0">
                <a:sym typeface="Wingdings" panose="05000000000000000000" pitchFamily="2" charset="2"/>
              </a:rPr>
              <a:t>¿Es cierto que alguien escribió una determinada obra?</a:t>
            </a:r>
          </a:p>
          <a:p>
            <a:pPr lvl="1"/>
            <a:r>
              <a:rPr lang="es-AR" dirty="0">
                <a:sym typeface="Wingdings" panose="05000000000000000000" pitchFamily="2" charset="2"/>
              </a:rPr>
              <a:t>¿Quién o quienes escribieron una obra?</a:t>
            </a:r>
          </a:p>
          <a:p>
            <a:pPr lvl="1"/>
            <a:r>
              <a:rPr lang="es-AR" dirty="0">
                <a:sym typeface="Wingdings" panose="05000000000000000000" pitchFamily="2" charset="2"/>
              </a:rPr>
              <a:t>¿Qué obra escribió cierta persona?</a:t>
            </a:r>
          </a:p>
          <a:p>
            <a:pPr lvl="1"/>
            <a:r>
              <a:rPr lang="es-AR" dirty="0">
                <a:sym typeface="Wingdings" panose="05000000000000000000" pitchFamily="2" charset="2"/>
              </a:rPr>
              <a:t>Si es cierto que cierta persona escribió alguna obra, sin importar cual.</a:t>
            </a:r>
          </a:p>
          <a:p>
            <a:pPr lvl="1"/>
            <a:r>
              <a:rPr lang="es-AR" dirty="0">
                <a:sym typeface="Wingdings" panose="05000000000000000000" pitchFamily="2" charset="2"/>
              </a:rPr>
              <a:t>Si es cierto que cierta obra existe.</a:t>
            </a:r>
          </a:p>
          <a:p>
            <a:pPr lvl="2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46835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-468560" y="2060848"/>
            <a:ext cx="5616624" cy="4525963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s-AR" dirty="0" smtClean="0"/>
              <a:t>Base de Conocimiento</a:t>
            </a:r>
          </a:p>
          <a:p>
            <a:pPr lvl="2"/>
            <a:r>
              <a:rPr lang="es-AR" dirty="0" err="1"/>
              <a:t>e</a:t>
            </a:r>
            <a:r>
              <a:rPr lang="es-AR" dirty="0" err="1" smtClean="0"/>
              <a:t>scribio</a:t>
            </a:r>
            <a:r>
              <a:rPr lang="es-AR" dirty="0" smtClean="0"/>
              <a:t> (</a:t>
            </a:r>
            <a:r>
              <a:rPr lang="es-AR" dirty="0" err="1"/>
              <a:t>e</a:t>
            </a:r>
            <a:r>
              <a:rPr lang="es-AR" dirty="0" err="1" smtClean="0"/>
              <a:t>lsaBornemann</a:t>
            </a:r>
            <a:r>
              <a:rPr lang="es-AR" dirty="0" smtClean="0"/>
              <a:t>, socorro).</a:t>
            </a:r>
          </a:p>
          <a:p>
            <a:pPr lvl="2"/>
            <a:r>
              <a:rPr lang="es-AR" dirty="0" err="1" smtClean="0"/>
              <a:t>escribio</a:t>
            </a:r>
            <a:r>
              <a:rPr lang="es-AR" dirty="0" smtClean="0"/>
              <a:t> (</a:t>
            </a:r>
            <a:r>
              <a:rPr lang="es-AR" dirty="0" err="1"/>
              <a:t>n</a:t>
            </a:r>
            <a:r>
              <a:rPr lang="es-AR" dirty="0" err="1" smtClean="0"/>
              <a:t>eilGaiman</a:t>
            </a:r>
            <a:r>
              <a:rPr lang="es-AR" dirty="0" smtClean="0"/>
              <a:t>, </a:t>
            </a:r>
            <a:r>
              <a:rPr lang="es-AR" dirty="0" err="1" smtClean="0"/>
              <a:t>sandman</a:t>
            </a:r>
            <a:r>
              <a:rPr lang="es-AR" dirty="0" smtClean="0"/>
              <a:t>).</a:t>
            </a:r>
          </a:p>
          <a:p>
            <a:pPr lvl="2"/>
            <a:r>
              <a:rPr lang="es-AR" dirty="0" err="1" smtClean="0"/>
              <a:t>escribio</a:t>
            </a:r>
            <a:r>
              <a:rPr lang="es-AR" dirty="0" smtClean="0"/>
              <a:t> (</a:t>
            </a:r>
            <a:r>
              <a:rPr lang="es-AR" dirty="0" err="1" smtClean="0"/>
              <a:t>alanMoore</a:t>
            </a:r>
            <a:r>
              <a:rPr lang="es-AR" dirty="0" smtClean="0"/>
              <a:t>, </a:t>
            </a:r>
            <a:r>
              <a:rPr lang="es-AR" dirty="0" err="1" smtClean="0"/>
              <a:t>watchmen</a:t>
            </a:r>
            <a:r>
              <a:rPr lang="es-AR" dirty="0" smtClean="0"/>
              <a:t>).</a:t>
            </a:r>
          </a:p>
          <a:p>
            <a:pPr lvl="2"/>
            <a:r>
              <a:rPr lang="es-AR" dirty="0" err="1" smtClean="0"/>
              <a:t>escribio</a:t>
            </a:r>
            <a:r>
              <a:rPr lang="es-AR" dirty="0" smtClean="0"/>
              <a:t> (</a:t>
            </a:r>
            <a:r>
              <a:rPr lang="es-AR" dirty="0" err="1" smtClean="0"/>
              <a:t>neilGaiman</a:t>
            </a:r>
            <a:r>
              <a:rPr lang="es-AR" dirty="0"/>
              <a:t>, </a:t>
            </a:r>
            <a:r>
              <a:rPr lang="es-AR" dirty="0" err="1" smtClean="0"/>
              <a:t>americanGods</a:t>
            </a:r>
            <a:r>
              <a:rPr lang="es-AR" dirty="0" smtClean="0"/>
              <a:t>).</a:t>
            </a:r>
          </a:p>
          <a:p>
            <a:pPr lvl="2"/>
            <a:r>
              <a:rPr lang="es-AR" dirty="0" err="1" smtClean="0"/>
              <a:t>escribio</a:t>
            </a:r>
            <a:r>
              <a:rPr lang="es-AR" dirty="0" smtClean="0"/>
              <a:t> (</a:t>
            </a:r>
            <a:r>
              <a:rPr lang="es-AR" dirty="0" err="1" smtClean="0"/>
              <a:t>neilGaiman</a:t>
            </a:r>
            <a:r>
              <a:rPr lang="es-AR" dirty="0"/>
              <a:t>, </a:t>
            </a:r>
            <a:r>
              <a:rPr lang="es-AR" dirty="0" err="1" smtClean="0"/>
              <a:t>buensoPresagios</a:t>
            </a:r>
            <a:r>
              <a:rPr lang="es-AR" dirty="0" smtClean="0"/>
              <a:t>).</a:t>
            </a:r>
          </a:p>
          <a:p>
            <a:pPr lvl="2"/>
            <a:r>
              <a:rPr lang="es-AR" dirty="0" err="1"/>
              <a:t>e</a:t>
            </a:r>
            <a:r>
              <a:rPr lang="es-AR" dirty="0" err="1" smtClean="0"/>
              <a:t>scribio</a:t>
            </a:r>
            <a:r>
              <a:rPr lang="es-AR" dirty="0" smtClean="0"/>
              <a:t> (</a:t>
            </a:r>
            <a:r>
              <a:rPr lang="es-AR" dirty="0" err="1" smtClean="0"/>
              <a:t>terryPratchett</a:t>
            </a:r>
            <a:r>
              <a:rPr lang="es-AR" dirty="0" smtClean="0"/>
              <a:t>, </a:t>
            </a:r>
            <a:r>
              <a:rPr lang="es-AR" dirty="0" err="1"/>
              <a:t>buensoPresagios</a:t>
            </a:r>
            <a:r>
              <a:rPr lang="es-AR" dirty="0"/>
              <a:t>).</a:t>
            </a:r>
          </a:p>
          <a:p>
            <a:pPr lvl="2"/>
            <a:r>
              <a:rPr lang="es-AR" dirty="0" err="1"/>
              <a:t>e</a:t>
            </a:r>
            <a:r>
              <a:rPr lang="es-AR" dirty="0" err="1" smtClean="0"/>
              <a:t>scribio</a:t>
            </a:r>
            <a:r>
              <a:rPr lang="es-AR" dirty="0" smtClean="0"/>
              <a:t> (</a:t>
            </a:r>
            <a:r>
              <a:rPr lang="es-AR" dirty="0" err="1" smtClean="0"/>
              <a:t>brianAzarello</a:t>
            </a:r>
            <a:r>
              <a:rPr lang="es-AR" dirty="0" smtClean="0"/>
              <a:t>, </a:t>
            </a:r>
            <a:r>
              <a:rPr lang="es-AR" dirty="0" err="1" smtClean="0"/>
              <a:t>cienBalas</a:t>
            </a:r>
            <a:r>
              <a:rPr lang="es-AR" dirty="0" smtClean="0"/>
              <a:t>).</a:t>
            </a:r>
          </a:p>
          <a:p>
            <a:pPr lvl="2"/>
            <a:r>
              <a:rPr lang="es-AR" dirty="0" err="1" smtClean="0"/>
              <a:t>escribio</a:t>
            </a:r>
            <a:r>
              <a:rPr lang="es-AR" dirty="0" smtClean="0"/>
              <a:t> (</a:t>
            </a:r>
            <a:r>
              <a:rPr lang="es-AR" dirty="0" err="1" smtClean="0"/>
              <a:t>warenElis</a:t>
            </a:r>
            <a:r>
              <a:rPr lang="es-AR" dirty="0" smtClean="0"/>
              <a:t>, </a:t>
            </a:r>
            <a:r>
              <a:rPr lang="es-AR" dirty="0" err="1" smtClean="0"/>
              <a:t>planetary</a:t>
            </a:r>
            <a:r>
              <a:rPr lang="es-AR" dirty="0" smtClean="0"/>
              <a:t>).</a:t>
            </a:r>
          </a:p>
          <a:p>
            <a:pPr lvl="2"/>
            <a:r>
              <a:rPr lang="es-AR" dirty="0" err="1" smtClean="0"/>
              <a:t>escribio</a:t>
            </a:r>
            <a:r>
              <a:rPr lang="es-AR" dirty="0" smtClean="0"/>
              <a:t> (</a:t>
            </a:r>
            <a:r>
              <a:rPr lang="es-AR" dirty="0" err="1" smtClean="0"/>
              <a:t>frankMiller</a:t>
            </a:r>
            <a:r>
              <a:rPr lang="es-AR" dirty="0" smtClean="0"/>
              <a:t>, </a:t>
            </a:r>
            <a:r>
              <a:rPr lang="es-AR" dirty="0" err="1" smtClean="0"/>
              <a:t>elCaballeroOscuroRegresa</a:t>
            </a:r>
            <a:r>
              <a:rPr lang="es-AR" dirty="0" smtClean="0"/>
              <a:t>).</a:t>
            </a:r>
            <a:endParaRPr lang="es-AR" dirty="0"/>
          </a:p>
          <a:p>
            <a:pPr lvl="2"/>
            <a:r>
              <a:rPr lang="es-AR" dirty="0" err="1" smtClean="0"/>
              <a:t>escribio</a:t>
            </a:r>
            <a:r>
              <a:rPr lang="es-AR" dirty="0" smtClean="0"/>
              <a:t> </a:t>
            </a:r>
            <a:r>
              <a:rPr lang="es-AR" dirty="0"/>
              <a:t>(</a:t>
            </a:r>
            <a:r>
              <a:rPr lang="es-AR" dirty="0" err="1"/>
              <a:t>frankMiller</a:t>
            </a:r>
            <a:r>
              <a:rPr lang="es-AR" dirty="0"/>
              <a:t>, </a:t>
            </a:r>
            <a:r>
              <a:rPr lang="es-AR" dirty="0" err="1" smtClean="0"/>
              <a:t>batmanAnioUno</a:t>
            </a:r>
            <a:r>
              <a:rPr lang="es-AR" dirty="0" smtClean="0"/>
              <a:t>).</a:t>
            </a:r>
          </a:p>
          <a:p>
            <a:pPr lvl="2"/>
            <a:r>
              <a:rPr lang="es-AR" dirty="0" err="1"/>
              <a:t>e</a:t>
            </a:r>
            <a:r>
              <a:rPr lang="es-AR" dirty="0" err="1" smtClean="0"/>
              <a:t>scribio</a:t>
            </a:r>
            <a:r>
              <a:rPr lang="es-AR" dirty="0" smtClean="0"/>
              <a:t>(</a:t>
            </a:r>
            <a:r>
              <a:rPr lang="es-AR" dirty="0" err="1" smtClean="0"/>
              <a:t>isaacAsimov</a:t>
            </a:r>
            <a:r>
              <a:rPr lang="es-AR" dirty="0" smtClean="0"/>
              <a:t>, </a:t>
            </a:r>
            <a:r>
              <a:rPr lang="es-AR" dirty="0" err="1" smtClean="0"/>
              <a:t>fundacion</a:t>
            </a:r>
            <a:r>
              <a:rPr lang="es-AR" dirty="0" smtClean="0"/>
              <a:t>).</a:t>
            </a:r>
          </a:p>
          <a:p>
            <a:pPr lvl="2"/>
            <a:r>
              <a:rPr lang="es-AR" dirty="0" err="1" smtClean="0"/>
              <a:t>escribio</a:t>
            </a:r>
            <a:r>
              <a:rPr lang="es-AR" dirty="0" smtClean="0"/>
              <a:t>(</a:t>
            </a:r>
            <a:r>
              <a:rPr lang="es-AR" dirty="0" err="1" smtClean="0"/>
              <a:t>isaacAsimov</a:t>
            </a:r>
            <a:r>
              <a:rPr lang="es-AR" dirty="0"/>
              <a:t>, </a:t>
            </a:r>
            <a:r>
              <a:rPr lang="es-AR" dirty="0" err="1" smtClean="0"/>
              <a:t>yoRobot</a:t>
            </a:r>
            <a:r>
              <a:rPr lang="es-AR" dirty="0" smtClean="0"/>
              <a:t>).</a:t>
            </a:r>
          </a:p>
          <a:p>
            <a:pPr lvl="2"/>
            <a:r>
              <a:rPr lang="es-AR" dirty="0" err="1" smtClean="0"/>
              <a:t>escribio</a:t>
            </a:r>
            <a:r>
              <a:rPr lang="es-AR" dirty="0" smtClean="0"/>
              <a:t>(</a:t>
            </a:r>
            <a:r>
              <a:rPr lang="es-AR" dirty="0" err="1" smtClean="0"/>
              <a:t>isaacAsimov</a:t>
            </a:r>
            <a:r>
              <a:rPr lang="es-AR" dirty="0"/>
              <a:t>, </a:t>
            </a:r>
            <a:r>
              <a:rPr lang="es-AR" dirty="0" err="1" smtClean="0"/>
              <a:t>elFinDeLaEternidad</a:t>
            </a:r>
            <a:r>
              <a:rPr lang="es-AR" dirty="0" smtClean="0"/>
              <a:t>).</a:t>
            </a:r>
          </a:p>
          <a:p>
            <a:pPr lvl="2"/>
            <a:r>
              <a:rPr lang="es-AR" dirty="0" err="1" smtClean="0"/>
              <a:t>escribio</a:t>
            </a:r>
            <a:r>
              <a:rPr lang="es-AR" dirty="0" smtClean="0"/>
              <a:t>(</a:t>
            </a:r>
            <a:r>
              <a:rPr lang="es-AR" dirty="0" err="1" smtClean="0"/>
              <a:t>isaacAsimov</a:t>
            </a:r>
            <a:r>
              <a:rPr lang="es-AR" dirty="0"/>
              <a:t>, </a:t>
            </a:r>
            <a:r>
              <a:rPr lang="es-AR" dirty="0" err="1" smtClean="0"/>
              <a:t>laBusquedaDeLosElementos</a:t>
            </a:r>
            <a:r>
              <a:rPr lang="es-AR" dirty="0" smtClean="0"/>
              <a:t>).</a:t>
            </a:r>
          </a:p>
          <a:p>
            <a:pPr lvl="2"/>
            <a:endParaRPr lang="es-AR" dirty="0" smtClean="0"/>
          </a:p>
          <a:p>
            <a:pPr lvl="2"/>
            <a:endParaRPr lang="es-AR" dirty="0"/>
          </a:p>
          <a:p>
            <a:pPr lvl="2"/>
            <a:endParaRPr lang="es-AR" dirty="0"/>
          </a:p>
          <a:p>
            <a:pPr lvl="2"/>
            <a:endParaRPr lang="es-AR" dirty="0" smtClean="0"/>
          </a:p>
          <a:p>
            <a:pPr lvl="2"/>
            <a:endParaRPr lang="es-AR" dirty="0"/>
          </a:p>
          <a:p>
            <a:pPr lvl="2"/>
            <a:endParaRPr lang="es-AR" dirty="0"/>
          </a:p>
          <a:p>
            <a:pPr lvl="2"/>
            <a:endParaRPr lang="es-AR" dirty="0" smtClean="0"/>
          </a:p>
          <a:p>
            <a:pPr lvl="2"/>
            <a:endParaRPr lang="es-AR" dirty="0"/>
          </a:p>
          <a:p>
            <a:pPr lvl="2"/>
            <a:endParaRPr lang="es-AR" dirty="0"/>
          </a:p>
          <a:p>
            <a:pPr lvl="2"/>
            <a:endParaRPr lang="es-AR" dirty="0"/>
          </a:p>
          <a:p>
            <a:pPr lvl="2"/>
            <a:endParaRPr lang="es-AR" dirty="0" smtClean="0"/>
          </a:p>
          <a:p>
            <a:pPr lvl="2"/>
            <a:endParaRPr lang="es-AR" dirty="0"/>
          </a:p>
          <a:p>
            <a:pPr lvl="2"/>
            <a:endParaRPr lang="es-AR" dirty="0" smtClean="0"/>
          </a:p>
          <a:p>
            <a:pPr lvl="2"/>
            <a:endParaRPr lang="es-AR" dirty="0"/>
          </a:p>
          <a:p>
            <a:pPr lvl="2"/>
            <a:endParaRPr lang="es-AR" dirty="0"/>
          </a:p>
          <a:p>
            <a:pPr lvl="2"/>
            <a:endParaRPr lang="es-AR" dirty="0"/>
          </a:p>
          <a:p>
            <a:pPr lvl="2"/>
            <a:endParaRPr lang="es-AR" dirty="0"/>
          </a:p>
          <a:p>
            <a:pPr lvl="2"/>
            <a:endParaRPr lang="es-AR" dirty="0"/>
          </a:p>
          <a:p>
            <a:pPr lvl="2"/>
            <a:endParaRPr lang="es-AR" dirty="0" smtClean="0"/>
          </a:p>
          <a:p>
            <a:pPr lvl="2"/>
            <a:endParaRPr lang="es-AR" dirty="0" smtClean="0"/>
          </a:p>
          <a:p>
            <a:pPr lvl="2"/>
            <a:endParaRPr lang="es-AR" dirty="0"/>
          </a:p>
          <a:p>
            <a:pPr lvl="2"/>
            <a:endParaRPr lang="es-AR" dirty="0" smtClean="0"/>
          </a:p>
          <a:p>
            <a:pPr lvl="1"/>
            <a:endParaRPr lang="es-AR" dirty="0" smtClean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139952" y="2420888"/>
            <a:ext cx="5076056" cy="3921299"/>
          </a:xfrm>
        </p:spPr>
        <p:txBody>
          <a:bodyPr>
            <a:normAutofit fontScale="85000" lnSpcReduction="20000"/>
          </a:bodyPr>
          <a:lstStyle/>
          <a:p>
            <a:pPr lvl="2"/>
            <a:r>
              <a:rPr lang="es-AR" dirty="0" err="1" smtClean="0"/>
              <a:t>escribio</a:t>
            </a:r>
            <a:r>
              <a:rPr lang="es-AR" dirty="0" smtClean="0"/>
              <a:t>(</a:t>
            </a:r>
            <a:r>
              <a:rPr lang="es-AR" dirty="0" err="1" smtClean="0"/>
              <a:t>joseHernandez</a:t>
            </a:r>
            <a:r>
              <a:rPr lang="es-AR" dirty="0"/>
              <a:t>, </a:t>
            </a:r>
            <a:r>
              <a:rPr lang="es-AR" dirty="0" err="1"/>
              <a:t>martinFierro</a:t>
            </a:r>
            <a:r>
              <a:rPr lang="es-AR" dirty="0"/>
              <a:t>).</a:t>
            </a:r>
          </a:p>
          <a:p>
            <a:pPr lvl="2"/>
            <a:r>
              <a:rPr lang="es-AR" dirty="0" err="1" smtClean="0"/>
              <a:t>escribio</a:t>
            </a:r>
            <a:r>
              <a:rPr lang="es-AR" dirty="0" smtClean="0"/>
              <a:t>(</a:t>
            </a:r>
            <a:r>
              <a:rPr lang="es-AR" dirty="0" err="1" smtClean="0"/>
              <a:t>stephenKing</a:t>
            </a:r>
            <a:r>
              <a:rPr lang="es-AR" dirty="0"/>
              <a:t>, </a:t>
            </a:r>
            <a:r>
              <a:rPr lang="es-AR" dirty="0" err="1"/>
              <a:t>it</a:t>
            </a:r>
            <a:r>
              <a:rPr lang="es-AR" dirty="0"/>
              <a:t>).</a:t>
            </a:r>
          </a:p>
          <a:p>
            <a:pPr lvl="2"/>
            <a:r>
              <a:rPr lang="es-AR" dirty="0" err="1" smtClean="0"/>
              <a:t>escribio</a:t>
            </a:r>
            <a:r>
              <a:rPr lang="es-AR" dirty="0" smtClean="0"/>
              <a:t>(</a:t>
            </a:r>
            <a:r>
              <a:rPr lang="es-AR" dirty="0" err="1" smtClean="0"/>
              <a:t>stephenKing</a:t>
            </a:r>
            <a:r>
              <a:rPr lang="es-AR" dirty="0"/>
              <a:t>, </a:t>
            </a:r>
            <a:r>
              <a:rPr lang="es-AR" dirty="0" err="1"/>
              <a:t>misery</a:t>
            </a:r>
            <a:r>
              <a:rPr lang="es-AR" dirty="0"/>
              <a:t>).</a:t>
            </a:r>
          </a:p>
          <a:p>
            <a:pPr lvl="2"/>
            <a:r>
              <a:rPr lang="es-AR" dirty="0" err="1"/>
              <a:t>e</a:t>
            </a:r>
            <a:r>
              <a:rPr lang="es-AR" dirty="0" err="1" smtClean="0"/>
              <a:t>scribio</a:t>
            </a:r>
            <a:r>
              <a:rPr lang="es-AR" dirty="0" smtClean="0"/>
              <a:t>(</a:t>
            </a:r>
            <a:r>
              <a:rPr lang="es-AR" dirty="0" err="1" smtClean="0"/>
              <a:t>stephenKing</a:t>
            </a:r>
            <a:r>
              <a:rPr lang="es-AR" dirty="0"/>
              <a:t>, </a:t>
            </a:r>
            <a:r>
              <a:rPr lang="es-AR" dirty="0" err="1"/>
              <a:t>carrie</a:t>
            </a:r>
            <a:r>
              <a:rPr lang="es-AR" dirty="0"/>
              <a:t>).</a:t>
            </a:r>
          </a:p>
          <a:p>
            <a:pPr lvl="2"/>
            <a:r>
              <a:rPr lang="es-AR" dirty="0" err="1"/>
              <a:t>e</a:t>
            </a:r>
            <a:r>
              <a:rPr lang="es-AR" dirty="0" err="1" smtClean="0"/>
              <a:t>scribio</a:t>
            </a:r>
            <a:r>
              <a:rPr lang="es-AR" dirty="0" smtClean="0"/>
              <a:t>(</a:t>
            </a:r>
            <a:r>
              <a:rPr lang="es-AR" dirty="0" err="1" smtClean="0"/>
              <a:t>stephenKing</a:t>
            </a:r>
            <a:r>
              <a:rPr lang="es-AR" dirty="0"/>
              <a:t>, </a:t>
            </a:r>
            <a:r>
              <a:rPr lang="es-AR" dirty="0" err="1"/>
              <a:t>elJuegoDeGerald</a:t>
            </a:r>
            <a:r>
              <a:rPr lang="es-AR" dirty="0"/>
              <a:t>).</a:t>
            </a:r>
          </a:p>
          <a:p>
            <a:pPr lvl="2"/>
            <a:r>
              <a:rPr lang="es-AR" dirty="0" err="1" smtClean="0"/>
              <a:t>escribio</a:t>
            </a:r>
            <a:r>
              <a:rPr lang="es-AR" dirty="0" smtClean="0"/>
              <a:t>(</a:t>
            </a:r>
            <a:r>
              <a:rPr lang="es-AR" dirty="0" err="1" smtClean="0"/>
              <a:t>julioCortazar</a:t>
            </a:r>
            <a:r>
              <a:rPr lang="es-AR" dirty="0"/>
              <a:t>, rayuela).</a:t>
            </a:r>
          </a:p>
          <a:p>
            <a:pPr lvl="2"/>
            <a:r>
              <a:rPr lang="es-AR" dirty="0" err="1" smtClean="0"/>
              <a:t>escribio</a:t>
            </a:r>
            <a:r>
              <a:rPr lang="es-AR" dirty="0" smtClean="0"/>
              <a:t>(</a:t>
            </a:r>
            <a:r>
              <a:rPr lang="es-AR" dirty="0" err="1" smtClean="0"/>
              <a:t>jorgeLuisBorges</a:t>
            </a:r>
            <a:r>
              <a:rPr lang="es-AR" dirty="0"/>
              <a:t>, ficciones).</a:t>
            </a:r>
          </a:p>
          <a:p>
            <a:pPr lvl="2"/>
            <a:r>
              <a:rPr lang="es-AR" dirty="0" err="1" smtClean="0"/>
              <a:t>escribio</a:t>
            </a:r>
            <a:r>
              <a:rPr lang="es-AR" dirty="0" smtClean="0"/>
              <a:t>(</a:t>
            </a:r>
            <a:r>
              <a:rPr lang="es-AR" dirty="0" err="1" smtClean="0"/>
              <a:t>jorgeLuisBorges</a:t>
            </a:r>
            <a:r>
              <a:rPr lang="es-AR" dirty="0"/>
              <a:t>, </a:t>
            </a:r>
            <a:r>
              <a:rPr lang="es-AR" dirty="0" err="1"/>
              <a:t>elAleph</a:t>
            </a:r>
            <a:r>
              <a:rPr lang="es-AR" dirty="0"/>
              <a:t>).</a:t>
            </a:r>
          </a:p>
          <a:p>
            <a:pPr lvl="2"/>
            <a:r>
              <a:rPr lang="es-AR" dirty="0" err="1" smtClean="0"/>
              <a:t>escribio</a:t>
            </a:r>
            <a:r>
              <a:rPr lang="es-AR" dirty="0" smtClean="0"/>
              <a:t>(</a:t>
            </a:r>
            <a:r>
              <a:rPr lang="es-AR" dirty="0" err="1" smtClean="0"/>
              <a:t>horacioQuiroga</a:t>
            </a:r>
            <a:r>
              <a:rPr lang="es-AR" dirty="0"/>
              <a:t>, </a:t>
            </a:r>
            <a:r>
              <a:rPr lang="es-AR" dirty="0" err="1"/>
              <a:t>cuentosDeLaSelva</a:t>
            </a:r>
            <a:r>
              <a:rPr lang="es-AR" dirty="0"/>
              <a:t>).</a:t>
            </a:r>
          </a:p>
          <a:p>
            <a:pPr lvl="2"/>
            <a:r>
              <a:rPr lang="es-AR" dirty="0" err="1" smtClean="0"/>
              <a:t>escribio</a:t>
            </a:r>
            <a:r>
              <a:rPr lang="es-AR" dirty="0" smtClean="0"/>
              <a:t>(</a:t>
            </a:r>
            <a:r>
              <a:rPr lang="es-AR" dirty="0" err="1" smtClean="0"/>
              <a:t>horacioQuiroga</a:t>
            </a:r>
            <a:r>
              <a:rPr lang="es-AR" dirty="0"/>
              <a:t>, </a:t>
            </a:r>
            <a:r>
              <a:rPr lang="es-AR" dirty="0" err="1"/>
              <a:t>cuentosDeLocuraAmorYMuerte</a:t>
            </a:r>
            <a:r>
              <a:rPr lang="es-AR" dirty="0"/>
              <a:t>).</a:t>
            </a:r>
          </a:p>
          <a:p>
            <a:pPr lvl="2"/>
            <a:endParaRPr lang="es-AR" dirty="0"/>
          </a:p>
          <a:p>
            <a:endParaRPr lang="es-AR" dirty="0"/>
          </a:p>
        </p:txBody>
      </p:sp>
      <p:sp>
        <p:nvSpPr>
          <p:cNvPr id="6" name="5 CuadroTexto"/>
          <p:cNvSpPr txBox="1"/>
          <p:nvPr/>
        </p:nvSpPr>
        <p:spPr>
          <a:xfrm>
            <a:off x="2267744" y="143175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rgbClr val="FF0000"/>
                </a:solidFill>
              </a:rPr>
              <a:t>Ingresar a: https://swish.swi-prolog.org/</a:t>
            </a:r>
          </a:p>
        </p:txBody>
      </p:sp>
    </p:spTree>
    <p:extLst>
      <p:ext uri="{BB962C8B-B14F-4D97-AF65-F5344CB8AC3E}">
        <p14:creationId xmlns:p14="http://schemas.microsoft.com/office/powerpoint/2010/main" val="625950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77500" lnSpcReduction="20000"/>
          </a:bodyPr>
          <a:lstStyle/>
          <a:p>
            <a:r>
              <a:rPr lang="es-AR" dirty="0" smtClean="0"/>
              <a:t>Resolver </a:t>
            </a:r>
            <a:r>
              <a:rPr lang="es-AR" dirty="0"/>
              <a:t>un problema para una </a:t>
            </a:r>
            <a:r>
              <a:rPr lang="es-AR" dirty="0" smtClean="0"/>
              <a:t>librería</a:t>
            </a:r>
          </a:p>
          <a:p>
            <a:pPr lvl="1"/>
            <a:r>
              <a:rPr lang="es-AR" dirty="0">
                <a:sym typeface="Wingdings" panose="05000000000000000000" pitchFamily="2" charset="2"/>
              </a:rPr>
              <a:t>¿Es cierto que alguien escribió una determinada obra?</a:t>
            </a:r>
          </a:p>
          <a:p>
            <a:pPr lvl="2"/>
            <a:r>
              <a:rPr lang="es-AR" dirty="0" err="1"/>
              <a:t>e</a:t>
            </a:r>
            <a:r>
              <a:rPr lang="es-AR" dirty="0" err="1" smtClean="0"/>
              <a:t>scribio</a:t>
            </a:r>
            <a:r>
              <a:rPr lang="es-AR" dirty="0" smtClean="0"/>
              <a:t> (</a:t>
            </a:r>
            <a:r>
              <a:rPr lang="es-AR" dirty="0" err="1" smtClean="0"/>
              <a:t>alanMoore</a:t>
            </a:r>
            <a:r>
              <a:rPr lang="es-AR" dirty="0" smtClean="0"/>
              <a:t> , </a:t>
            </a:r>
            <a:r>
              <a:rPr lang="es-AR" dirty="0" err="1" smtClean="0"/>
              <a:t>watchmen</a:t>
            </a:r>
            <a:r>
              <a:rPr lang="es-AR" dirty="0" smtClean="0"/>
              <a:t>).	</a:t>
            </a:r>
            <a:r>
              <a:rPr lang="es-AR" dirty="0" smtClean="0">
                <a:sym typeface="Wingdings" panose="05000000000000000000" pitchFamily="2" charset="2"/>
              </a:rPr>
              <a:t> True</a:t>
            </a:r>
          </a:p>
          <a:p>
            <a:pPr lvl="2"/>
            <a:r>
              <a:rPr lang="es-AR" dirty="0" err="1">
                <a:sym typeface="Wingdings" panose="05000000000000000000" pitchFamily="2" charset="2"/>
              </a:rPr>
              <a:t>e</a:t>
            </a:r>
            <a:r>
              <a:rPr lang="es-AR" dirty="0" err="1" smtClean="0">
                <a:sym typeface="Wingdings" panose="05000000000000000000" pitchFamily="2" charset="2"/>
              </a:rPr>
              <a:t>scribio</a:t>
            </a:r>
            <a:r>
              <a:rPr lang="es-AR" dirty="0" smtClean="0">
                <a:sym typeface="Wingdings" panose="05000000000000000000" pitchFamily="2" charset="2"/>
              </a:rPr>
              <a:t> (</a:t>
            </a:r>
            <a:r>
              <a:rPr lang="es-AR" dirty="0" err="1" smtClean="0">
                <a:sym typeface="Wingdings" panose="05000000000000000000" pitchFamily="2" charset="2"/>
              </a:rPr>
              <a:t>alanMoore</a:t>
            </a:r>
            <a:r>
              <a:rPr lang="es-AR" dirty="0" smtClean="0">
                <a:sym typeface="Wingdings" panose="05000000000000000000" pitchFamily="2" charset="2"/>
              </a:rPr>
              <a:t>, </a:t>
            </a:r>
            <a:r>
              <a:rPr lang="es-AR" dirty="0" err="1" smtClean="0">
                <a:sym typeface="Wingdings" panose="05000000000000000000" pitchFamily="2" charset="2"/>
              </a:rPr>
              <a:t>elPadrino</a:t>
            </a:r>
            <a:r>
              <a:rPr lang="es-AR" dirty="0" smtClean="0">
                <a:sym typeface="Wingdings" panose="05000000000000000000" pitchFamily="2" charset="2"/>
              </a:rPr>
              <a:t>).	 False</a:t>
            </a:r>
          </a:p>
          <a:p>
            <a:pPr lvl="1"/>
            <a:r>
              <a:rPr lang="es-AR" dirty="0">
                <a:sym typeface="Wingdings" panose="05000000000000000000" pitchFamily="2" charset="2"/>
              </a:rPr>
              <a:t>Quién o quienes escribieron una </a:t>
            </a:r>
            <a:r>
              <a:rPr lang="es-AR" dirty="0" smtClean="0">
                <a:sym typeface="Wingdings" panose="05000000000000000000" pitchFamily="2" charset="2"/>
              </a:rPr>
              <a:t>obra</a:t>
            </a:r>
          </a:p>
          <a:p>
            <a:pPr lvl="2"/>
            <a:r>
              <a:rPr lang="es-AR" dirty="0" err="1">
                <a:sym typeface="Wingdings" panose="05000000000000000000" pitchFamily="2" charset="2"/>
              </a:rPr>
              <a:t>e</a:t>
            </a:r>
            <a:r>
              <a:rPr lang="es-AR" dirty="0" err="1" smtClean="0">
                <a:sym typeface="Wingdings" panose="05000000000000000000" pitchFamily="2" charset="2"/>
              </a:rPr>
              <a:t>scribio</a:t>
            </a:r>
            <a:r>
              <a:rPr lang="es-AR" dirty="0" smtClean="0">
                <a:sym typeface="Wingdings" panose="05000000000000000000" pitchFamily="2" charset="2"/>
              </a:rPr>
              <a:t> (Artista, </a:t>
            </a:r>
            <a:r>
              <a:rPr lang="es-AR" dirty="0" err="1" smtClean="0">
                <a:sym typeface="Wingdings" panose="05000000000000000000" pitchFamily="2" charset="2"/>
              </a:rPr>
              <a:t>watchmen</a:t>
            </a:r>
            <a:r>
              <a:rPr lang="es-AR" dirty="0" smtClean="0">
                <a:sym typeface="Wingdings" panose="05000000000000000000" pitchFamily="2" charset="2"/>
              </a:rPr>
              <a:t>).  	 </a:t>
            </a:r>
            <a:r>
              <a:rPr lang="es-AR" dirty="0" err="1" smtClean="0">
                <a:sym typeface="Wingdings" panose="05000000000000000000" pitchFamily="2" charset="2"/>
              </a:rPr>
              <a:t>alanMoore</a:t>
            </a:r>
            <a:r>
              <a:rPr lang="es-AR" dirty="0" smtClean="0">
                <a:sym typeface="Wingdings" panose="05000000000000000000" pitchFamily="2" charset="2"/>
              </a:rPr>
              <a:t>.</a:t>
            </a:r>
          </a:p>
          <a:p>
            <a:pPr lvl="2"/>
            <a:r>
              <a:rPr lang="es-AR" dirty="0" err="1">
                <a:sym typeface="Wingdings" panose="05000000000000000000" pitchFamily="2" charset="2"/>
              </a:rPr>
              <a:t>e</a:t>
            </a:r>
            <a:r>
              <a:rPr lang="es-AR" dirty="0" err="1" smtClean="0">
                <a:sym typeface="Wingdings" panose="05000000000000000000" pitchFamily="2" charset="2"/>
              </a:rPr>
              <a:t>scribio</a:t>
            </a:r>
            <a:r>
              <a:rPr lang="es-AR" dirty="0" smtClean="0">
                <a:sym typeface="Wingdings" panose="05000000000000000000" pitchFamily="2" charset="2"/>
              </a:rPr>
              <a:t> (Artista, </a:t>
            </a:r>
            <a:r>
              <a:rPr lang="es-AR" dirty="0" err="1" smtClean="0">
                <a:sym typeface="Wingdings" panose="05000000000000000000" pitchFamily="2" charset="2"/>
              </a:rPr>
              <a:t>buenosPresagios</a:t>
            </a:r>
            <a:r>
              <a:rPr lang="es-AR" dirty="0" smtClean="0">
                <a:sym typeface="Wingdings" panose="05000000000000000000" pitchFamily="2" charset="2"/>
              </a:rPr>
              <a:t>).  </a:t>
            </a:r>
            <a:r>
              <a:rPr lang="es-AR" dirty="0" err="1" smtClean="0">
                <a:sym typeface="Wingdings" panose="05000000000000000000" pitchFamily="2" charset="2"/>
              </a:rPr>
              <a:t>neilGaiman</a:t>
            </a:r>
            <a:r>
              <a:rPr lang="es-AR" dirty="0">
                <a:sym typeface="Wingdings" panose="05000000000000000000" pitchFamily="2" charset="2"/>
              </a:rPr>
              <a:t> </a:t>
            </a:r>
            <a:r>
              <a:rPr lang="es-AR" dirty="0" smtClean="0">
                <a:sym typeface="Wingdings" panose="05000000000000000000" pitchFamily="2" charset="2"/>
              </a:rPr>
              <a:t>(r </a:t>
            </a:r>
            <a:r>
              <a:rPr lang="es-AR" dirty="0" err="1" smtClean="0">
                <a:sym typeface="Wingdings" panose="05000000000000000000" pitchFamily="2" charset="2"/>
              </a:rPr>
              <a:t>ó</a:t>
            </a:r>
            <a:r>
              <a:rPr lang="es-AR" dirty="0" smtClean="0">
                <a:sym typeface="Wingdings" panose="05000000000000000000" pitchFamily="2" charset="2"/>
              </a:rPr>
              <a:t> ;) </a:t>
            </a:r>
            <a:r>
              <a:rPr lang="es-AR" dirty="0" err="1" smtClean="0">
                <a:sym typeface="Wingdings" panose="05000000000000000000" pitchFamily="2" charset="2"/>
              </a:rPr>
              <a:t>terryPratchett</a:t>
            </a:r>
            <a:r>
              <a:rPr lang="es-AR" dirty="0" smtClean="0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es-AR" dirty="0">
                <a:sym typeface="Wingdings" panose="05000000000000000000" pitchFamily="2" charset="2"/>
              </a:rPr>
              <a:t>Qué obra escribió cierta </a:t>
            </a:r>
            <a:r>
              <a:rPr lang="es-AR" dirty="0" smtClean="0">
                <a:sym typeface="Wingdings" panose="05000000000000000000" pitchFamily="2" charset="2"/>
              </a:rPr>
              <a:t>persona</a:t>
            </a:r>
          </a:p>
          <a:p>
            <a:pPr lvl="2"/>
            <a:r>
              <a:rPr lang="es-AR" dirty="0" err="1">
                <a:sym typeface="Wingdings" panose="05000000000000000000" pitchFamily="2" charset="2"/>
              </a:rPr>
              <a:t>e</a:t>
            </a:r>
            <a:r>
              <a:rPr lang="es-AR" dirty="0" err="1" smtClean="0">
                <a:sym typeface="Wingdings" panose="05000000000000000000" pitchFamily="2" charset="2"/>
              </a:rPr>
              <a:t>scribio</a:t>
            </a:r>
            <a:r>
              <a:rPr lang="es-AR" dirty="0" smtClean="0">
                <a:sym typeface="Wingdings" panose="05000000000000000000" pitchFamily="2" charset="2"/>
              </a:rPr>
              <a:t> (</a:t>
            </a:r>
            <a:r>
              <a:rPr lang="es-AR" dirty="0" err="1" smtClean="0">
                <a:sym typeface="Wingdings" panose="05000000000000000000" pitchFamily="2" charset="2"/>
              </a:rPr>
              <a:t>isaacAsimov</a:t>
            </a:r>
            <a:r>
              <a:rPr lang="es-AR" dirty="0" smtClean="0">
                <a:sym typeface="Wingdings" panose="05000000000000000000" pitchFamily="2" charset="2"/>
              </a:rPr>
              <a:t>, Obra).   {Varias respuestas}.</a:t>
            </a:r>
          </a:p>
          <a:p>
            <a:pPr lvl="1"/>
            <a:r>
              <a:rPr lang="es-AR" dirty="0">
                <a:sym typeface="Wingdings" panose="05000000000000000000" pitchFamily="2" charset="2"/>
              </a:rPr>
              <a:t>Si es cierto que cierta persona escribió alguna obra, sin importar </a:t>
            </a:r>
            <a:r>
              <a:rPr lang="es-AR" dirty="0" smtClean="0">
                <a:sym typeface="Wingdings" panose="05000000000000000000" pitchFamily="2" charset="2"/>
              </a:rPr>
              <a:t>cual</a:t>
            </a:r>
          </a:p>
          <a:p>
            <a:pPr lvl="2"/>
            <a:r>
              <a:rPr lang="es-AR" dirty="0" err="1">
                <a:sym typeface="Wingdings" panose="05000000000000000000" pitchFamily="2" charset="2"/>
              </a:rPr>
              <a:t>e</a:t>
            </a:r>
            <a:r>
              <a:rPr lang="es-AR" dirty="0" err="1" smtClean="0">
                <a:sym typeface="Wingdings" panose="05000000000000000000" pitchFamily="2" charset="2"/>
              </a:rPr>
              <a:t>scribio</a:t>
            </a:r>
            <a:r>
              <a:rPr lang="es-AR" dirty="0" smtClean="0">
                <a:sym typeface="Wingdings" panose="05000000000000000000" pitchFamily="2" charset="2"/>
              </a:rPr>
              <a:t>(</a:t>
            </a:r>
            <a:r>
              <a:rPr lang="es-AR" dirty="0" err="1" smtClean="0">
                <a:sym typeface="Wingdings" panose="05000000000000000000" pitchFamily="2" charset="2"/>
              </a:rPr>
              <a:t>jorgeLuisBorges</a:t>
            </a:r>
            <a:r>
              <a:rPr lang="es-AR" dirty="0" smtClean="0">
                <a:sym typeface="Wingdings" panose="05000000000000000000" pitchFamily="2" charset="2"/>
              </a:rPr>
              <a:t>, _).</a:t>
            </a:r>
          </a:p>
          <a:p>
            <a:pPr lvl="1"/>
            <a:r>
              <a:rPr lang="es-AR" dirty="0">
                <a:sym typeface="Wingdings" panose="05000000000000000000" pitchFamily="2" charset="2"/>
              </a:rPr>
              <a:t>Si es cierto que cierta obra </a:t>
            </a:r>
            <a:r>
              <a:rPr lang="es-AR" dirty="0" smtClean="0">
                <a:sym typeface="Wingdings" panose="05000000000000000000" pitchFamily="2" charset="2"/>
              </a:rPr>
              <a:t>existe</a:t>
            </a:r>
          </a:p>
          <a:p>
            <a:pPr lvl="2"/>
            <a:r>
              <a:rPr lang="es-AR" dirty="0" err="1">
                <a:sym typeface="Wingdings" panose="05000000000000000000" pitchFamily="2" charset="2"/>
              </a:rPr>
              <a:t>e</a:t>
            </a:r>
            <a:r>
              <a:rPr lang="es-AR" dirty="0" err="1" smtClean="0">
                <a:sym typeface="Wingdings" panose="05000000000000000000" pitchFamily="2" charset="2"/>
              </a:rPr>
              <a:t>scribio</a:t>
            </a:r>
            <a:r>
              <a:rPr lang="es-AR" dirty="0" smtClean="0">
                <a:sym typeface="Wingdings" panose="05000000000000000000" pitchFamily="2" charset="2"/>
              </a:rPr>
              <a:t>(_, </a:t>
            </a:r>
            <a:r>
              <a:rPr lang="es-AR" dirty="0" err="1" smtClean="0">
                <a:sym typeface="Wingdings" panose="05000000000000000000" pitchFamily="2" charset="2"/>
              </a:rPr>
              <a:t>it</a:t>
            </a:r>
            <a:r>
              <a:rPr lang="es-AR" dirty="0" smtClean="0">
                <a:sym typeface="Wingdings" panose="05000000000000000000" pitchFamily="2" charset="2"/>
              </a:rPr>
              <a:t>).</a:t>
            </a:r>
            <a:endParaRPr lang="es-AR" dirty="0">
              <a:sym typeface="Wingdings" panose="05000000000000000000" pitchFamily="2" charset="2"/>
            </a:endParaRPr>
          </a:p>
          <a:p>
            <a:r>
              <a:rPr lang="es-AR" sz="1700" dirty="0" smtClean="0">
                <a:sym typeface="Wingdings" panose="05000000000000000000" pitchFamily="2" charset="2"/>
              </a:rPr>
              <a:t>NOTA: Las variables en </a:t>
            </a:r>
            <a:r>
              <a:rPr lang="es-AR" sz="1700" dirty="0" err="1" smtClean="0">
                <a:sym typeface="Wingdings" panose="05000000000000000000" pitchFamily="2" charset="2"/>
              </a:rPr>
              <a:t>prolog</a:t>
            </a:r>
            <a:r>
              <a:rPr lang="es-AR" sz="1700" dirty="0" smtClean="0">
                <a:sym typeface="Wingdings" panose="05000000000000000000" pitchFamily="2" charset="2"/>
              </a:rPr>
              <a:t> van en </a:t>
            </a:r>
            <a:r>
              <a:rPr lang="es-AR" sz="1700" dirty="0" err="1" smtClean="0">
                <a:sym typeface="Wingdings" panose="05000000000000000000" pitchFamily="2" charset="2"/>
              </a:rPr>
              <a:t>mayusculas</a:t>
            </a:r>
            <a:endParaRPr lang="es-AR" sz="1700" dirty="0" smtClean="0">
              <a:sym typeface="Wingdings" panose="05000000000000000000" pitchFamily="2" charset="2"/>
            </a:endParaRPr>
          </a:p>
          <a:p>
            <a:pPr lvl="1"/>
            <a:endParaRPr lang="es-AR" dirty="0" smtClean="0"/>
          </a:p>
          <a:p>
            <a:pPr lvl="1"/>
            <a:endParaRPr lang="es-AR" dirty="0"/>
          </a:p>
          <a:p>
            <a:pPr lvl="2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241900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AR" dirty="0" smtClean="0"/>
              <a:t>Paradigma de programación Lógico</a:t>
            </a:r>
          </a:p>
          <a:p>
            <a:pPr lvl="1"/>
            <a:r>
              <a:rPr lang="es-AR" dirty="0" smtClean="0"/>
              <a:t>Se platea en principio como relacional. </a:t>
            </a:r>
          </a:p>
          <a:p>
            <a:pPr lvl="1"/>
            <a:r>
              <a:rPr lang="es-AR" dirty="0" smtClean="0"/>
              <a:t>Establece relaciones entre elementos</a:t>
            </a:r>
          </a:p>
          <a:p>
            <a:pPr lvl="1"/>
            <a:r>
              <a:rPr lang="es-AR" dirty="0" smtClean="0"/>
              <a:t>No se compara con el paradigma funcional y dependerá del problema a resolver</a:t>
            </a:r>
          </a:p>
          <a:p>
            <a:r>
              <a:rPr lang="es-AR" dirty="0" smtClean="0"/>
              <a:t>Se trabaja con predicados</a:t>
            </a:r>
          </a:p>
          <a:p>
            <a:pPr lvl="1"/>
            <a:r>
              <a:rPr lang="es-AR" dirty="0" smtClean="0"/>
              <a:t>Cada oración con </a:t>
            </a:r>
            <a:r>
              <a:rPr lang="es-AR" dirty="0" err="1" smtClean="0"/>
              <a:t>escribio</a:t>
            </a:r>
            <a:r>
              <a:rPr lang="es-AR" dirty="0" smtClean="0"/>
              <a:t> son clausulas.</a:t>
            </a:r>
          </a:p>
          <a:p>
            <a:pPr lvl="1"/>
            <a:r>
              <a:rPr lang="es-AR" dirty="0" smtClean="0"/>
              <a:t>Dan información sobre los individuos simples (átomos) (No son </a:t>
            </a:r>
            <a:r>
              <a:rPr lang="es-AR" dirty="0" err="1" smtClean="0"/>
              <a:t>strings</a:t>
            </a:r>
            <a:r>
              <a:rPr lang="es-AR" dirty="0" smtClean="0"/>
              <a:t>)</a:t>
            </a:r>
          </a:p>
          <a:p>
            <a:pPr lvl="1"/>
            <a:r>
              <a:rPr lang="es-AR" dirty="0" smtClean="0"/>
              <a:t>Todos empiezan con </a:t>
            </a:r>
            <a:r>
              <a:rPr lang="es-AR" dirty="0" err="1" smtClean="0"/>
              <a:t>minusculas</a:t>
            </a:r>
            <a:r>
              <a:rPr lang="es-AR" dirty="0" smtClean="0"/>
              <a:t>.</a:t>
            </a:r>
          </a:p>
          <a:p>
            <a:r>
              <a:rPr lang="es-AR" dirty="0" smtClean="0"/>
              <a:t>Se trabaja con consultas</a:t>
            </a:r>
          </a:p>
          <a:p>
            <a:pPr lvl="1"/>
            <a:r>
              <a:rPr lang="es-AR" dirty="0" smtClean="0"/>
              <a:t>Consultas individuales  (Sobre un individuo) </a:t>
            </a:r>
            <a:r>
              <a:rPr lang="es-AR" dirty="0" smtClean="0">
                <a:sym typeface="Wingdings" panose="05000000000000000000" pitchFamily="2" charset="2"/>
              </a:rPr>
              <a:t> </a:t>
            </a:r>
            <a:r>
              <a:rPr lang="es-AR" dirty="0" err="1" smtClean="0">
                <a:sym typeface="Wingdings" panose="05000000000000000000" pitchFamily="2" charset="2"/>
              </a:rPr>
              <a:t>Bool</a:t>
            </a:r>
            <a:endParaRPr lang="es-AR" dirty="0" smtClean="0"/>
          </a:p>
          <a:p>
            <a:pPr lvl="1"/>
            <a:r>
              <a:rPr lang="es-AR" dirty="0" smtClean="0"/>
              <a:t>Consultas existenciales  (Existe alguien/algo) </a:t>
            </a:r>
            <a:r>
              <a:rPr lang="es-AR" dirty="0" smtClean="0">
                <a:sym typeface="Wingdings" panose="05000000000000000000" pitchFamily="2" charset="2"/>
              </a:rPr>
              <a:t> </a:t>
            </a:r>
            <a:r>
              <a:rPr lang="es-AR" dirty="0" err="1" smtClean="0">
                <a:sym typeface="Wingdings" panose="05000000000000000000" pitchFamily="2" charset="2"/>
              </a:rPr>
              <a:t>Bool</a:t>
            </a:r>
            <a:endParaRPr lang="es-AR" dirty="0" smtClean="0">
              <a:sym typeface="Wingdings" panose="05000000000000000000" pitchFamily="2" charset="2"/>
            </a:endParaRPr>
          </a:p>
          <a:p>
            <a:r>
              <a:rPr lang="es-AR" dirty="0" err="1" smtClean="0">
                <a:sym typeface="Wingdings" panose="05000000000000000000" pitchFamily="2" charset="2"/>
              </a:rPr>
              <a:t>Prolog</a:t>
            </a:r>
            <a:r>
              <a:rPr lang="es-AR" dirty="0" smtClean="0">
                <a:sym typeface="Wingdings" panose="05000000000000000000" pitchFamily="2" charset="2"/>
              </a:rPr>
              <a:t> responde cosas y no devuelve resultados/cosas</a:t>
            </a:r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492925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AR" dirty="0" smtClean="0"/>
              <a:t>Se trabaja con consultas</a:t>
            </a:r>
          </a:p>
          <a:p>
            <a:pPr lvl="1"/>
            <a:r>
              <a:rPr lang="es-AR" dirty="0" smtClean="0"/>
              <a:t>Al usar variables siempre se hace preguntas sobre Existe Persona o Alguien.</a:t>
            </a:r>
          </a:p>
          <a:p>
            <a:pPr lvl="2"/>
            <a:r>
              <a:rPr lang="es-AR" dirty="0" smtClean="0"/>
              <a:t>Esto se logra gracias a la propiedad de </a:t>
            </a:r>
            <a:r>
              <a:rPr lang="es-AR" b="1" dirty="0" err="1" smtClean="0"/>
              <a:t>Inversibilidad</a:t>
            </a:r>
            <a:endParaRPr lang="es-AR" b="1" dirty="0" smtClean="0"/>
          </a:p>
          <a:p>
            <a:pPr lvl="1"/>
            <a:r>
              <a:rPr lang="es-AR" dirty="0" smtClean="0"/>
              <a:t>Se pueden usar variables dentro de las consultas.</a:t>
            </a:r>
          </a:p>
          <a:p>
            <a:r>
              <a:rPr lang="es-AR" dirty="0" smtClean="0"/>
              <a:t>Se puede extender la base de datos</a:t>
            </a:r>
          </a:p>
          <a:p>
            <a:pPr lvl="1"/>
            <a:r>
              <a:rPr lang="es-AR" dirty="0" smtClean="0"/>
              <a:t>Es Comic?</a:t>
            </a:r>
          </a:p>
          <a:p>
            <a:pPr lvl="2"/>
            <a:r>
              <a:rPr lang="es-AR" dirty="0" err="1" smtClean="0"/>
              <a:t>esComic</a:t>
            </a:r>
            <a:r>
              <a:rPr lang="es-AR" dirty="0" smtClean="0"/>
              <a:t>(</a:t>
            </a:r>
            <a:r>
              <a:rPr lang="es-AR" dirty="0" err="1" smtClean="0"/>
              <a:t>sandman</a:t>
            </a:r>
            <a:r>
              <a:rPr lang="es-AR" dirty="0" smtClean="0"/>
              <a:t>)</a:t>
            </a:r>
          </a:p>
          <a:p>
            <a:pPr lvl="2"/>
            <a:r>
              <a:rPr lang="es-AR" dirty="0" err="1" smtClean="0"/>
              <a:t>esComic</a:t>
            </a:r>
            <a:r>
              <a:rPr lang="es-AR" dirty="0" smtClean="0"/>
              <a:t>(</a:t>
            </a:r>
            <a:r>
              <a:rPr lang="es-AR" dirty="0" err="1" smtClean="0"/>
              <a:t>cienBalas</a:t>
            </a:r>
            <a:r>
              <a:rPr lang="es-AR" dirty="0" smtClean="0"/>
              <a:t>)</a:t>
            </a:r>
            <a:endParaRPr lang="es-AR" dirty="0"/>
          </a:p>
          <a:p>
            <a:pPr lvl="2"/>
            <a:r>
              <a:rPr lang="es-AR" dirty="0" err="1" smtClean="0"/>
              <a:t>esComic</a:t>
            </a:r>
            <a:r>
              <a:rPr lang="es-AR" dirty="0" smtClean="0"/>
              <a:t>(</a:t>
            </a:r>
            <a:r>
              <a:rPr lang="es-AR" dirty="0" err="1" smtClean="0"/>
              <a:t>watchman</a:t>
            </a:r>
            <a:r>
              <a:rPr lang="es-AR" dirty="0" smtClean="0"/>
              <a:t>)</a:t>
            </a:r>
            <a:endParaRPr lang="es-AR" dirty="0"/>
          </a:p>
          <a:p>
            <a:pPr lvl="2"/>
            <a:r>
              <a:rPr lang="es-AR" dirty="0" err="1" smtClean="0"/>
              <a:t>esComic</a:t>
            </a:r>
            <a:r>
              <a:rPr lang="es-AR" dirty="0" smtClean="0"/>
              <a:t>(</a:t>
            </a:r>
            <a:r>
              <a:rPr lang="es-AR" dirty="0" err="1" smtClean="0"/>
              <a:t>planetary</a:t>
            </a:r>
            <a:r>
              <a:rPr lang="es-AR" dirty="0" smtClean="0"/>
              <a:t>)</a:t>
            </a:r>
            <a:endParaRPr lang="es-AR" dirty="0"/>
          </a:p>
          <a:p>
            <a:pPr lvl="2"/>
            <a:r>
              <a:rPr lang="es-AR" dirty="0" err="1" smtClean="0"/>
              <a:t>esComic</a:t>
            </a:r>
            <a:r>
              <a:rPr lang="es-AR" dirty="0" smtClean="0"/>
              <a:t>(</a:t>
            </a:r>
            <a:r>
              <a:rPr lang="es-AR" dirty="0" err="1" smtClean="0"/>
              <a:t>elCaballeroOscuroRegresa</a:t>
            </a:r>
            <a:r>
              <a:rPr lang="es-AR" dirty="0" smtClean="0"/>
              <a:t>)</a:t>
            </a:r>
            <a:endParaRPr lang="es-AR" dirty="0"/>
          </a:p>
          <a:p>
            <a:pPr lvl="2"/>
            <a:r>
              <a:rPr lang="es-AR" dirty="0" err="1" smtClean="0"/>
              <a:t>esComic</a:t>
            </a:r>
            <a:r>
              <a:rPr lang="es-AR" dirty="0" smtClean="0"/>
              <a:t>(</a:t>
            </a:r>
            <a:r>
              <a:rPr lang="es-AR" dirty="0" err="1" smtClean="0"/>
              <a:t>batmanAnioUno</a:t>
            </a:r>
            <a:r>
              <a:rPr lang="es-AR" dirty="0" smtClean="0"/>
              <a:t>)</a:t>
            </a:r>
            <a:endParaRPr lang="es-AR" dirty="0"/>
          </a:p>
          <a:p>
            <a:pPr lvl="2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616933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80726" y="1412776"/>
            <a:ext cx="8229600" cy="2116832"/>
          </a:xfrm>
        </p:spPr>
        <p:txBody>
          <a:bodyPr>
            <a:normAutofit fontScale="92500" lnSpcReduction="20000"/>
          </a:bodyPr>
          <a:lstStyle/>
          <a:p>
            <a:r>
              <a:rPr lang="es-AR" dirty="0" smtClean="0"/>
              <a:t>Se trabaja con consultas</a:t>
            </a:r>
          </a:p>
          <a:p>
            <a:pPr lvl="1"/>
            <a:r>
              <a:rPr lang="es-AR" dirty="0" err="1" smtClean="0"/>
              <a:t>esComic</a:t>
            </a:r>
            <a:r>
              <a:rPr lang="es-AR" dirty="0" smtClean="0"/>
              <a:t>(rayuela) </a:t>
            </a:r>
            <a:r>
              <a:rPr lang="es-AR" dirty="0" smtClean="0">
                <a:sym typeface="Wingdings" panose="05000000000000000000" pitchFamily="2" charset="2"/>
              </a:rPr>
              <a:t> False (No esta en la </a:t>
            </a:r>
            <a:r>
              <a:rPr lang="es-AR" dirty="0" err="1" smtClean="0">
                <a:sym typeface="Wingdings" panose="05000000000000000000" pitchFamily="2" charset="2"/>
              </a:rPr>
              <a:t>BdC</a:t>
            </a:r>
            <a:r>
              <a:rPr lang="es-AR" dirty="0" smtClean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s-AR" dirty="0" err="1" smtClean="0">
                <a:sym typeface="Wingdings" panose="05000000000000000000" pitchFamily="2" charset="2"/>
              </a:rPr>
              <a:t>esComic</a:t>
            </a:r>
            <a:r>
              <a:rPr lang="es-AR" dirty="0" smtClean="0">
                <a:sym typeface="Wingdings" panose="05000000000000000000" pitchFamily="2" charset="2"/>
              </a:rPr>
              <a:t>(_)  True  (Porque hay comics en la </a:t>
            </a:r>
            <a:r>
              <a:rPr lang="es-AR" dirty="0" err="1" smtClean="0">
                <a:sym typeface="Wingdings" panose="05000000000000000000" pitchFamily="2" charset="2"/>
              </a:rPr>
              <a:t>BdC</a:t>
            </a:r>
            <a:r>
              <a:rPr lang="es-AR" dirty="0" smtClean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s-AR" dirty="0" err="1" smtClean="0">
                <a:sym typeface="Wingdings" panose="05000000000000000000" pitchFamily="2" charset="2"/>
              </a:rPr>
              <a:t>esComic</a:t>
            </a:r>
            <a:r>
              <a:rPr lang="es-AR" dirty="0" smtClean="0">
                <a:sym typeface="Wingdings" panose="05000000000000000000" pitchFamily="2" charset="2"/>
              </a:rPr>
              <a:t>(Obra)  Devuelve una obra.</a:t>
            </a:r>
          </a:p>
          <a:p>
            <a:r>
              <a:rPr lang="es-AR" dirty="0" smtClean="0">
                <a:sym typeface="Wingdings" panose="05000000000000000000" pitchFamily="2" charset="2"/>
              </a:rPr>
              <a:t>Propiedades y Relaciones</a:t>
            </a:r>
          </a:p>
          <a:p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401" y="3717032"/>
            <a:ext cx="7334250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2481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80726" y="1412776"/>
            <a:ext cx="8229600" cy="4680520"/>
          </a:xfrm>
        </p:spPr>
        <p:txBody>
          <a:bodyPr>
            <a:normAutofit lnSpcReduction="10000"/>
          </a:bodyPr>
          <a:lstStyle/>
          <a:p>
            <a:r>
              <a:rPr lang="es-AR" dirty="0" err="1" smtClean="0"/>
              <a:t>EsArtistaDeNovenoArte</a:t>
            </a:r>
            <a:r>
              <a:rPr lang="es-AR" dirty="0" smtClean="0"/>
              <a:t>?</a:t>
            </a:r>
          </a:p>
          <a:p>
            <a:pPr lvl="1"/>
            <a:r>
              <a:rPr lang="es-AR" dirty="0" smtClean="0"/>
              <a:t>P =&gt; R  y  P ^ Q =&gt; R</a:t>
            </a:r>
          </a:p>
          <a:p>
            <a:pPr lvl="1"/>
            <a:r>
              <a:rPr lang="es-AR" dirty="0" smtClean="0"/>
              <a:t>Es equivalente R &lt;= P ^ Q</a:t>
            </a:r>
          </a:p>
          <a:p>
            <a:r>
              <a:rPr lang="es-AR" dirty="0" smtClean="0"/>
              <a:t>Se declara que es artista de noveno arte si es artista y escribió un comic</a:t>
            </a:r>
          </a:p>
          <a:p>
            <a:pPr lvl="1"/>
            <a:r>
              <a:rPr lang="es-AR" dirty="0" err="1" smtClean="0"/>
              <a:t>esArtistaDeNovenoArte</a:t>
            </a:r>
            <a:r>
              <a:rPr lang="es-AR" dirty="0" smtClean="0"/>
              <a:t> :- </a:t>
            </a:r>
            <a:r>
              <a:rPr lang="es-AR" dirty="0" err="1" smtClean="0"/>
              <a:t>escribio</a:t>
            </a:r>
            <a:r>
              <a:rPr lang="es-AR" dirty="0" smtClean="0"/>
              <a:t>(Artista, Obra), </a:t>
            </a:r>
            <a:r>
              <a:rPr lang="es-AR" dirty="0" err="1" smtClean="0"/>
              <a:t>esComic</a:t>
            </a:r>
            <a:r>
              <a:rPr lang="es-AR" dirty="0" smtClean="0"/>
              <a:t>(Obra).</a:t>
            </a:r>
          </a:p>
          <a:p>
            <a:pPr lvl="2"/>
            <a:r>
              <a:rPr lang="es-AR" dirty="0" smtClean="0"/>
              <a:t>Tipos de Variables</a:t>
            </a:r>
          </a:p>
          <a:p>
            <a:pPr lvl="3"/>
            <a:r>
              <a:rPr lang="es-AR" dirty="0" smtClean="0"/>
              <a:t>Libres : Artista</a:t>
            </a:r>
          </a:p>
          <a:p>
            <a:pPr lvl="3"/>
            <a:r>
              <a:rPr lang="es-AR" dirty="0" smtClean="0"/>
              <a:t>Ligada o Unificada: Obra</a:t>
            </a:r>
          </a:p>
          <a:p>
            <a:endParaRPr lang="es-AR" dirty="0" smtClean="0"/>
          </a:p>
          <a:p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84611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80726" y="1412776"/>
            <a:ext cx="2795130" cy="4680520"/>
          </a:xfrm>
        </p:spPr>
        <p:txBody>
          <a:bodyPr>
            <a:normAutofit fontScale="70000" lnSpcReduction="20000"/>
          </a:bodyPr>
          <a:lstStyle/>
          <a:p>
            <a:r>
              <a:rPr lang="es-AR" dirty="0" smtClean="0"/>
              <a:t>Resumen:</a:t>
            </a:r>
          </a:p>
          <a:p>
            <a:pPr lvl="1"/>
            <a:r>
              <a:rPr lang="es-AR" dirty="0" smtClean="0"/>
              <a:t>Individuo</a:t>
            </a:r>
          </a:p>
          <a:p>
            <a:pPr lvl="2"/>
            <a:r>
              <a:rPr lang="es-AR" dirty="0" smtClean="0"/>
              <a:t>Simple</a:t>
            </a:r>
          </a:p>
          <a:p>
            <a:pPr lvl="3"/>
            <a:r>
              <a:rPr lang="es-AR" dirty="0" smtClean="0"/>
              <a:t>Átomo</a:t>
            </a:r>
          </a:p>
          <a:p>
            <a:pPr lvl="3"/>
            <a:r>
              <a:rPr lang="es-AR" dirty="0" smtClean="0"/>
              <a:t>Número</a:t>
            </a:r>
          </a:p>
          <a:p>
            <a:pPr lvl="2"/>
            <a:r>
              <a:rPr lang="es-AR" dirty="0" smtClean="0">
                <a:solidFill>
                  <a:srgbClr val="FF0000"/>
                </a:solidFill>
              </a:rPr>
              <a:t>Compuesto</a:t>
            </a:r>
          </a:p>
          <a:p>
            <a:pPr lvl="3"/>
            <a:r>
              <a:rPr lang="es-AR" dirty="0" smtClean="0">
                <a:solidFill>
                  <a:srgbClr val="FF0000"/>
                </a:solidFill>
              </a:rPr>
              <a:t>Lista</a:t>
            </a:r>
          </a:p>
          <a:p>
            <a:pPr lvl="3"/>
            <a:r>
              <a:rPr lang="es-AR" dirty="0" err="1" smtClean="0">
                <a:solidFill>
                  <a:srgbClr val="FF0000"/>
                </a:solidFill>
              </a:rPr>
              <a:t>Functor</a:t>
            </a:r>
            <a:endParaRPr lang="es-AR" dirty="0" smtClean="0">
              <a:solidFill>
                <a:srgbClr val="FF0000"/>
              </a:solidFill>
            </a:endParaRPr>
          </a:p>
          <a:p>
            <a:pPr lvl="1"/>
            <a:r>
              <a:rPr lang="es-AR" dirty="0" smtClean="0"/>
              <a:t>Predicado</a:t>
            </a:r>
          </a:p>
          <a:p>
            <a:pPr lvl="2"/>
            <a:r>
              <a:rPr lang="es-AR" dirty="0" smtClean="0"/>
              <a:t>Propiedad</a:t>
            </a:r>
          </a:p>
          <a:p>
            <a:pPr lvl="2"/>
            <a:r>
              <a:rPr lang="es-AR" dirty="0" smtClean="0"/>
              <a:t>Relación</a:t>
            </a:r>
          </a:p>
          <a:p>
            <a:pPr lvl="1"/>
            <a:r>
              <a:rPr lang="es-AR" dirty="0" smtClean="0"/>
              <a:t>Clausula</a:t>
            </a:r>
          </a:p>
          <a:p>
            <a:pPr lvl="2"/>
            <a:r>
              <a:rPr lang="es-AR" dirty="0" smtClean="0"/>
              <a:t>Hecho (Axioma)</a:t>
            </a:r>
          </a:p>
          <a:p>
            <a:pPr lvl="2"/>
            <a:r>
              <a:rPr lang="es-AR" dirty="0" smtClean="0"/>
              <a:t>Regla</a:t>
            </a:r>
          </a:p>
          <a:p>
            <a:pPr lvl="1"/>
            <a:r>
              <a:rPr lang="es-AR" dirty="0" smtClean="0"/>
              <a:t>Consulta</a:t>
            </a:r>
          </a:p>
          <a:p>
            <a:pPr lvl="2"/>
            <a:r>
              <a:rPr lang="es-AR" dirty="0" smtClean="0"/>
              <a:t>Individual</a:t>
            </a:r>
          </a:p>
          <a:p>
            <a:pPr lvl="2"/>
            <a:r>
              <a:rPr lang="es-AR" dirty="0" smtClean="0"/>
              <a:t>Existencial</a:t>
            </a:r>
          </a:p>
          <a:p>
            <a:pPr lvl="3"/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  <p:sp>
        <p:nvSpPr>
          <p:cNvPr id="4" name="3 CuadroTexto"/>
          <p:cNvSpPr txBox="1"/>
          <p:nvPr/>
        </p:nvSpPr>
        <p:spPr>
          <a:xfrm>
            <a:off x="4499992" y="1340768"/>
            <a:ext cx="43204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Los predicados relacionan Individuos</a:t>
            </a:r>
          </a:p>
          <a:p>
            <a:r>
              <a:rPr lang="es-AR" dirty="0" smtClean="0"/>
              <a:t>Un predicado con </a:t>
            </a:r>
            <a:r>
              <a:rPr lang="es-AR" dirty="0" err="1" smtClean="0"/>
              <a:t>Aridad</a:t>
            </a:r>
            <a:r>
              <a:rPr lang="es-AR" dirty="0" smtClean="0"/>
              <a:t> 1 es una Propiedad</a:t>
            </a:r>
          </a:p>
          <a:p>
            <a:r>
              <a:rPr lang="es-AR" dirty="0" smtClean="0"/>
              <a:t>Con </a:t>
            </a:r>
            <a:r>
              <a:rPr lang="es-AR" dirty="0" err="1" smtClean="0"/>
              <a:t>Aridad</a:t>
            </a:r>
            <a:r>
              <a:rPr lang="es-AR" dirty="0" smtClean="0"/>
              <a:t> mayor a 1 es una Relación</a:t>
            </a:r>
          </a:p>
          <a:p>
            <a:endParaRPr lang="es-AR" dirty="0"/>
          </a:p>
          <a:p>
            <a:r>
              <a:rPr lang="es-AR" dirty="0" smtClean="0"/>
              <a:t>La Base de Conocimiento está formada por Cláusulas que componen un Predicado.</a:t>
            </a:r>
          </a:p>
          <a:p>
            <a:r>
              <a:rPr lang="es-AR" dirty="0" smtClean="0"/>
              <a:t>Una Cláusula puede ser un Hecho o una Regla</a:t>
            </a:r>
          </a:p>
          <a:p>
            <a:endParaRPr lang="es-AR" dirty="0"/>
          </a:p>
          <a:p>
            <a:r>
              <a:rPr lang="es-AR" dirty="0" smtClean="0"/>
              <a:t>Las consultas no devuelven nada. Solo tienen un valor de Verdad asociado (V o F)</a:t>
            </a:r>
          </a:p>
          <a:p>
            <a:r>
              <a:rPr lang="es-AR" dirty="0" smtClean="0"/>
              <a:t>Se puede consultar si ciertos individuos cumplen cierta propiedad o una relación (Consulta Individual) o bien se puede consultar si existe algún individuo que cumpla algo (Consulta Existencial)</a:t>
            </a:r>
          </a:p>
        </p:txBody>
      </p:sp>
    </p:spTree>
    <p:extLst>
      <p:ext uri="{BB962C8B-B14F-4D97-AF65-F5344CB8AC3E}">
        <p14:creationId xmlns:p14="http://schemas.microsoft.com/office/powerpoint/2010/main" val="9558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80726" y="1412776"/>
            <a:ext cx="8229600" cy="4680520"/>
          </a:xfrm>
        </p:spPr>
        <p:txBody>
          <a:bodyPr>
            <a:normAutofit/>
          </a:bodyPr>
          <a:lstStyle/>
          <a:p>
            <a:r>
              <a:rPr lang="es-AR" dirty="0" smtClean="0"/>
              <a:t>Conceptos Básicos</a:t>
            </a:r>
          </a:p>
          <a:p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942858"/>
            <a:ext cx="5173960" cy="4804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348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Relaciones</a:t>
            </a:r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lang="es-AR" sz="1100" dirty="0" smtClean="0"/>
          </a:p>
          <a:p>
            <a:r>
              <a:rPr lang="es-AR" dirty="0" smtClean="0"/>
              <a:t>Propiedades</a:t>
            </a:r>
          </a:p>
          <a:p>
            <a:endParaRPr lang="es-AR" dirty="0" smtClean="0"/>
          </a:p>
          <a:p>
            <a:endParaRPr lang="es-AR" dirty="0" smtClean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74871"/>
            <a:ext cx="6120680" cy="2456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5301208"/>
            <a:ext cx="3024336" cy="1351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5327780"/>
            <a:ext cx="1872208" cy="1406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692" y="5301208"/>
            <a:ext cx="2031740" cy="888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580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80726" y="1412776"/>
            <a:ext cx="8229600" cy="4680520"/>
          </a:xfrm>
        </p:spPr>
        <p:txBody>
          <a:bodyPr>
            <a:normAutofit/>
          </a:bodyPr>
          <a:lstStyle/>
          <a:p>
            <a:r>
              <a:rPr lang="es-AR" dirty="0" smtClean="0"/>
              <a:t>Consultas sobre la Base de Conocimiento</a:t>
            </a:r>
          </a:p>
          <a:p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564904"/>
            <a:ext cx="7560840" cy="3440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7092280" y="2564904"/>
            <a:ext cx="205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FF0000"/>
                </a:solidFill>
              </a:rPr>
              <a:t>Consulta Individual</a:t>
            </a:r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7092280" y="3045566"/>
            <a:ext cx="205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00B050"/>
                </a:solidFill>
              </a:rPr>
              <a:t>Consulta Existencial</a:t>
            </a:r>
            <a:endParaRPr lang="es-AR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66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80726" y="1412776"/>
            <a:ext cx="8229600" cy="4680520"/>
          </a:xfrm>
        </p:spPr>
        <p:txBody>
          <a:bodyPr>
            <a:normAutofit/>
          </a:bodyPr>
          <a:lstStyle/>
          <a:p>
            <a:r>
              <a:rPr lang="es-AR" dirty="0" smtClean="0"/>
              <a:t>Ligar variables y unificación</a:t>
            </a:r>
          </a:p>
          <a:p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004298"/>
            <a:ext cx="3960440" cy="4353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4860032" y="2004298"/>
            <a:ext cx="40324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? maestro(</a:t>
            </a:r>
            <a:r>
              <a:rPr lang="es-AR" dirty="0" err="1" smtClean="0"/>
              <a:t>Mestre</a:t>
            </a:r>
            <a:r>
              <a:rPr lang="es-AR" dirty="0" smtClean="0"/>
              <a:t>, </a:t>
            </a:r>
            <a:r>
              <a:rPr lang="es-AR" dirty="0" err="1" smtClean="0"/>
              <a:t>Discipulo</a:t>
            </a:r>
            <a:r>
              <a:rPr lang="es-AR" dirty="0" smtClean="0"/>
              <a:t>).</a:t>
            </a:r>
          </a:p>
          <a:p>
            <a:r>
              <a:rPr lang="es-AR" dirty="0" err="1" smtClean="0"/>
              <a:t>Mestre</a:t>
            </a:r>
            <a:r>
              <a:rPr lang="es-AR" dirty="0" smtClean="0"/>
              <a:t>= </a:t>
            </a:r>
            <a:r>
              <a:rPr lang="es-AR" dirty="0" err="1" smtClean="0"/>
              <a:t>socrates</a:t>
            </a:r>
            <a:r>
              <a:rPr lang="es-AR" dirty="0" smtClean="0"/>
              <a:t>, </a:t>
            </a:r>
            <a:r>
              <a:rPr lang="es-AR" dirty="0" err="1" smtClean="0"/>
              <a:t>Discipulo</a:t>
            </a:r>
            <a:r>
              <a:rPr lang="es-AR" dirty="0" smtClean="0"/>
              <a:t>=</a:t>
            </a:r>
            <a:r>
              <a:rPr lang="es-AR" dirty="0" err="1" smtClean="0"/>
              <a:t>platon</a:t>
            </a:r>
            <a:r>
              <a:rPr lang="es-AR" dirty="0"/>
              <a:t>;</a:t>
            </a:r>
            <a:endParaRPr lang="es-AR" dirty="0" smtClean="0"/>
          </a:p>
          <a:p>
            <a:r>
              <a:rPr lang="es-AR" dirty="0" err="1" smtClean="0"/>
              <a:t>Mestre</a:t>
            </a:r>
            <a:r>
              <a:rPr lang="es-AR" dirty="0" smtClean="0"/>
              <a:t>=platón, </a:t>
            </a:r>
            <a:r>
              <a:rPr lang="es-AR" dirty="0" err="1" smtClean="0"/>
              <a:t>Discipulo</a:t>
            </a:r>
            <a:r>
              <a:rPr lang="es-AR" dirty="0" smtClean="0"/>
              <a:t>=</a:t>
            </a:r>
            <a:r>
              <a:rPr lang="es-AR" dirty="0" err="1" smtClean="0"/>
              <a:t>aristoteles</a:t>
            </a:r>
            <a:r>
              <a:rPr lang="es-AR" dirty="0" smtClean="0"/>
              <a:t>;</a:t>
            </a:r>
          </a:p>
          <a:p>
            <a:r>
              <a:rPr lang="es-AR" dirty="0"/>
              <a:t>f</a:t>
            </a:r>
            <a:r>
              <a:rPr lang="es-AR" dirty="0" smtClean="0"/>
              <a:t>alse.</a:t>
            </a:r>
          </a:p>
          <a:p>
            <a:endParaRPr lang="es-AR" dirty="0"/>
          </a:p>
          <a:p>
            <a:r>
              <a:rPr lang="es-AR" b="1" dirty="0" smtClean="0">
                <a:solidFill>
                  <a:srgbClr val="FF0000"/>
                </a:solidFill>
              </a:rPr>
              <a:t>INVERTIBILIDAD: Capacidad de ligar a una variable un individuo.</a:t>
            </a:r>
          </a:p>
          <a:p>
            <a:endParaRPr lang="es-AR" dirty="0" smtClean="0"/>
          </a:p>
          <a:p>
            <a:r>
              <a:rPr lang="es-AR" dirty="0" smtClean="0"/>
              <a:t>No siempre es posible tener la </a:t>
            </a:r>
            <a:r>
              <a:rPr lang="es-AR" dirty="0" err="1" smtClean="0"/>
              <a:t>invertibilidad</a:t>
            </a:r>
            <a:r>
              <a:rPr lang="es-AR" dirty="0" smtClean="0"/>
              <a:t>. </a:t>
            </a:r>
            <a:r>
              <a:rPr lang="es-AR" dirty="0" err="1" smtClean="0"/>
              <a:t>Ej</a:t>
            </a:r>
            <a:r>
              <a:rPr lang="es-AR" dirty="0" smtClean="0"/>
              <a:t> = predicado odia.</a:t>
            </a:r>
          </a:p>
          <a:p>
            <a:r>
              <a:rPr lang="es-AR" b="1" dirty="0" smtClean="0"/>
              <a:t>odia(</a:t>
            </a:r>
            <a:r>
              <a:rPr lang="es-AR" b="1" dirty="0" err="1" smtClean="0"/>
              <a:t>platon</a:t>
            </a:r>
            <a:r>
              <a:rPr lang="es-AR" b="1" dirty="0" smtClean="0"/>
              <a:t>, </a:t>
            </a:r>
            <a:r>
              <a:rPr lang="es-AR" b="1" dirty="0" err="1" smtClean="0"/>
              <a:t>diogenes</a:t>
            </a:r>
            <a:r>
              <a:rPr lang="es-AR" b="1" dirty="0" smtClean="0"/>
              <a:t>).</a:t>
            </a:r>
          </a:p>
          <a:p>
            <a:r>
              <a:rPr lang="es-AR" b="1" dirty="0"/>
              <a:t>o</a:t>
            </a:r>
            <a:r>
              <a:rPr lang="es-AR" b="1" dirty="0" smtClean="0"/>
              <a:t>dia(</a:t>
            </a:r>
            <a:r>
              <a:rPr lang="es-AR" b="1" dirty="0" err="1" smtClean="0"/>
              <a:t>diogenes</a:t>
            </a:r>
            <a:r>
              <a:rPr lang="es-AR" b="1" dirty="0" smtClean="0"/>
              <a:t>, _).</a:t>
            </a:r>
          </a:p>
          <a:p>
            <a:endParaRPr lang="es-AR" dirty="0" smtClean="0"/>
          </a:p>
          <a:p>
            <a:r>
              <a:rPr lang="es-AR" dirty="0" smtClean="0"/>
              <a:t>? Odia(</a:t>
            </a:r>
            <a:r>
              <a:rPr lang="es-AR" dirty="0" err="1" smtClean="0"/>
              <a:t>diogenes</a:t>
            </a:r>
            <a:r>
              <a:rPr lang="es-AR" dirty="0" smtClean="0"/>
              <a:t>, </a:t>
            </a:r>
            <a:r>
              <a:rPr lang="es-AR" dirty="0" err="1" smtClean="0"/>
              <a:t>platon</a:t>
            </a:r>
            <a:r>
              <a:rPr lang="es-AR" dirty="0" smtClean="0"/>
              <a:t>) </a:t>
            </a:r>
            <a:r>
              <a:rPr lang="es-AR" dirty="0" smtClean="0">
                <a:sym typeface="Wingdings" panose="05000000000000000000" pitchFamily="2" charset="2"/>
              </a:rPr>
              <a:t> true.</a:t>
            </a:r>
            <a:endParaRPr lang="es-AR" dirty="0" smtClean="0"/>
          </a:p>
          <a:p>
            <a:r>
              <a:rPr lang="es-AR" dirty="0" smtClean="0"/>
              <a:t>? Odia (Alguien, </a:t>
            </a:r>
            <a:r>
              <a:rPr lang="es-AR" dirty="0" err="1" smtClean="0"/>
              <a:t>platon</a:t>
            </a:r>
            <a:r>
              <a:rPr lang="es-AR" dirty="0" smtClean="0"/>
              <a:t>) </a:t>
            </a:r>
            <a:r>
              <a:rPr lang="es-AR" dirty="0" smtClean="0">
                <a:sym typeface="Wingdings" panose="05000000000000000000" pitchFamily="2" charset="2"/>
              </a:rPr>
              <a:t> </a:t>
            </a:r>
            <a:r>
              <a:rPr lang="es-AR" dirty="0" err="1" smtClean="0">
                <a:sym typeface="Wingdings" panose="05000000000000000000" pitchFamily="2" charset="2"/>
              </a:rPr>
              <a:t>diogenes</a:t>
            </a:r>
            <a:r>
              <a:rPr lang="es-AR" dirty="0">
                <a:sym typeface="Wingdings" panose="05000000000000000000" pitchFamily="2" charset="2"/>
              </a:rPr>
              <a:t>.</a:t>
            </a:r>
            <a:endParaRPr lang="es-AR" dirty="0" smtClean="0">
              <a:sym typeface="Wingdings" panose="05000000000000000000" pitchFamily="2" charset="2"/>
            </a:endParaRPr>
          </a:p>
          <a:p>
            <a:r>
              <a:rPr lang="es-AR" dirty="0" smtClean="0">
                <a:sym typeface="Wingdings" panose="05000000000000000000" pitchFamily="2" charset="2"/>
              </a:rPr>
              <a:t>? </a:t>
            </a:r>
            <a:r>
              <a:rPr lang="es-AR" dirty="0" smtClean="0"/>
              <a:t>Odia(</a:t>
            </a:r>
            <a:r>
              <a:rPr lang="es-AR" dirty="0" err="1" smtClean="0"/>
              <a:t>diogenes</a:t>
            </a:r>
            <a:r>
              <a:rPr lang="es-AR" dirty="0" smtClean="0"/>
              <a:t>, Alguien) </a:t>
            </a:r>
            <a:r>
              <a:rPr lang="es-AR" dirty="0" smtClean="0">
                <a:sym typeface="Wingdings" panose="05000000000000000000" pitchFamily="2" charset="2"/>
              </a:rPr>
              <a:t> true.</a:t>
            </a:r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458193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AR" dirty="0" smtClean="0"/>
              <a:t>Aritmética</a:t>
            </a:r>
          </a:p>
          <a:p>
            <a:pPr lvl="1"/>
            <a:r>
              <a:rPr lang="es-AR" dirty="0" smtClean="0"/>
              <a:t>%siguiente(Anterior, Siguiente)</a:t>
            </a:r>
          </a:p>
          <a:p>
            <a:pPr lvl="1"/>
            <a:r>
              <a:rPr lang="es-AR" dirty="0"/>
              <a:t>s</a:t>
            </a:r>
            <a:r>
              <a:rPr lang="es-AR" dirty="0" smtClean="0"/>
              <a:t>iguiente(N, N+1)</a:t>
            </a:r>
          </a:p>
          <a:p>
            <a:pPr lvl="2"/>
            <a:r>
              <a:rPr lang="es-AR" dirty="0" smtClean="0"/>
              <a:t>? siguiente(41, Siguiente)</a:t>
            </a:r>
          </a:p>
          <a:p>
            <a:pPr lvl="2"/>
            <a:r>
              <a:rPr lang="es-AR" dirty="0" smtClean="0"/>
              <a:t>Siguiente = 41 + 1</a:t>
            </a:r>
          </a:p>
          <a:p>
            <a:r>
              <a:rPr lang="es-AR" dirty="0" smtClean="0"/>
              <a:t>Modificación “</a:t>
            </a:r>
            <a:r>
              <a:rPr lang="es-AR" dirty="0" err="1" smtClean="0"/>
              <a:t>is</a:t>
            </a:r>
            <a:r>
              <a:rPr lang="es-AR" dirty="0" smtClean="0"/>
              <a:t>”</a:t>
            </a:r>
          </a:p>
          <a:p>
            <a:pPr lvl="1"/>
            <a:r>
              <a:rPr lang="es-AR" dirty="0"/>
              <a:t>s</a:t>
            </a:r>
            <a:r>
              <a:rPr lang="es-AR" dirty="0" smtClean="0"/>
              <a:t>iguiente(N, S) :- S </a:t>
            </a:r>
            <a:r>
              <a:rPr lang="es-AR" dirty="0" err="1" smtClean="0"/>
              <a:t>is</a:t>
            </a:r>
            <a:r>
              <a:rPr lang="es-AR" dirty="0" smtClean="0"/>
              <a:t> N+1.</a:t>
            </a:r>
            <a:endParaRPr lang="es-AR" dirty="0"/>
          </a:p>
          <a:p>
            <a:pPr lvl="2"/>
            <a:r>
              <a:rPr lang="es-AR" dirty="0" smtClean="0"/>
              <a:t>? siguiente(41</a:t>
            </a:r>
            <a:r>
              <a:rPr lang="es-AR" dirty="0"/>
              <a:t>, Siguiente</a:t>
            </a:r>
            <a:r>
              <a:rPr lang="es-AR" dirty="0" smtClean="0"/>
              <a:t>)</a:t>
            </a:r>
          </a:p>
          <a:p>
            <a:pPr lvl="2"/>
            <a:r>
              <a:rPr lang="es-AR" dirty="0"/>
              <a:t>Siguiente = </a:t>
            </a:r>
            <a:r>
              <a:rPr lang="es-AR" dirty="0" smtClean="0"/>
              <a:t>42</a:t>
            </a:r>
          </a:p>
          <a:p>
            <a:r>
              <a:rPr lang="es-AR" dirty="0" smtClean="0"/>
              <a:t>?siguiente(41,43)</a:t>
            </a:r>
          </a:p>
          <a:p>
            <a:pPr lvl="1"/>
            <a:r>
              <a:rPr lang="es-AR" dirty="0" smtClean="0"/>
              <a:t>False</a:t>
            </a:r>
          </a:p>
          <a:p>
            <a:r>
              <a:rPr lang="es-AR" dirty="0" smtClean="0"/>
              <a:t>?siguiente(Anterior, 42).</a:t>
            </a:r>
          </a:p>
          <a:p>
            <a:pPr lvl="1"/>
            <a:r>
              <a:rPr lang="es-AR" dirty="0" smtClean="0"/>
              <a:t>Da error: “</a:t>
            </a:r>
            <a:r>
              <a:rPr lang="es-AR" dirty="0" err="1" smtClean="0"/>
              <a:t>is</a:t>
            </a:r>
            <a:r>
              <a:rPr lang="es-AR" dirty="0" smtClean="0"/>
              <a:t>” no es </a:t>
            </a:r>
            <a:r>
              <a:rPr lang="es-AR" dirty="0" err="1" smtClean="0"/>
              <a:t>inversible</a:t>
            </a:r>
            <a:endParaRPr lang="es-AR" dirty="0" smtClean="0"/>
          </a:p>
          <a:p>
            <a:pPr lvl="1"/>
            <a:r>
              <a:rPr lang="es-AR" dirty="0" smtClean="0"/>
              <a:t>Hay un elemento no ligado que hace imposible hacer la operación</a:t>
            </a:r>
            <a:br>
              <a:rPr lang="es-AR" dirty="0" smtClean="0"/>
            </a:br>
            <a:r>
              <a:rPr lang="es-AR" dirty="0" smtClean="0"/>
              <a:t>	siguiente(</a:t>
            </a:r>
            <a:r>
              <a:rPr lang="es-AR" dirty="0" smtClean="0">
                <a:solidFill>
                  <a:srgbClr val="FF0000"/>
                </a:solidFill>
              </a:rPr>
              <a:t>N</a:t>
            </a:r>
            <a:r>
              <a:rPr lang="es-AR" dirty="0" smtClean="0"/>
              <a:t>, S) :- S </a:t>
            </a:r>
            <a:r>
              <a:rPr lang="es-AR" dirty="0" err="1" smtClean="0"/>
              <a:t>is</a:t>
            </a:r>
            <a:r>
              <a:rPr lang="es-AR" dirty="0" smtClean="0"/>
              <a:t> </a:t>
            </a:r>
            <a:r>
              <a:rPr lang="es-AR" dirty="0" smtClean="0">
                <a:solidFill>
                  <a:srgbClr val="FF0000"/>
                </a:solidFill>
              </a:rPr>
              <a:t>N</a:t>
            </a:r>
            <a:r>
              <a:rPr lang="es-AR" dirty="0" smtClean="0"/>
              <a:t> + 1</a:t>
            </a:r>
          </a:p>
          <a:p>
            <a:pPr lvl="1"/>
            <a:endParaRPr lang="es-AR" dirty="0" smtClean="0"/>
          </a:p>
          <a:p>
            <a:endParaRPr lang="es-AR" dirty="0" smtClean="0"/>
          </a:p>
          <a:p>
            <a:endParaRPr lang="es-AR" dirty="0"/>
          </a:p>
          <a:p>
            <a:pPr marL="457200" lvl="1" indent="0">
              <a:buNone/>
            </a:pPr>
            <a:endParaRPr lang="es-AR" dirty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302290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 err="1" smtClean="0"/>
              <a:t>Backtracking</a:t>
            </a:r>
            <a:endParaRPr lang="es-AR" dirty="0" smtClean="0"/>
          </a:p>
          <a:p>
            <a:pPr lvl="1"/>
            <a:r>
              <a:rPr lang="es-AR" dirty="0"/>
              <a:t>s</a:t>
            </a:r>
            <a:r>
              <a:rPr lang="es-AR" dirty="0" smtClean="0"/>
              <a:t>iguiente(N,S) :- numero(N), S </a:t>
            </a:r>
            <a:r>
              <a:rPr lang="es-AR" dirty="0" err="1" smtClean="0"/>
              <a:t>is</a:t>
            </a:r>
            <a:r>
              <a:rPr lang="es-AR" dirty="0" smtClean="0"/>
              <a:t> N + 1.</a:t>
            </a:r>
          </a:p>
          <a:p>
            <a:pPr lvl="1"/>
            <a:r>
              <a:rPr lang="es-AR" dirty="0"/>
              <a:t>(Generar para ligar e invertir) </a:t>
            </a:r>
            <a:endParaRPr lang="es-AR" dirty="0" smtClean="0"/>
          </a:p>
          <a:p>
            <a:pPr lvl="2"/>
            <a:r>
              <a:rPr lang="es-AR" dirty="0" smtClean="0"/>
              <a:t>Con numero() una función </a:t>
            </a:r>
            <a:r>
              <a:rPr lang="es-AR" dirty="0" err="1" smtClean="0"/>
              <a:t>inversible</a:t>
            </a:r>
            <a:r>
              <a:rPr lang="es-AR" dirty="0" smtClean="0"/>
              <a:t>, o sea que puede ligarse a por ejemplo al valor 1, quedando</a:t>
            </a:r>
          </a:p>
          <a:p>
            <a:pPr lvl="2"/>
            <a:r>
              <a:rPr lang="es-AR" dirty="0" smtClean="0"/>
              <a:t>Siguiente(N,42):- numero(1), 42 </a:t>
            </a:r>
            <a:r>
              <a:rPr lang="es-AR" dirty="0" err="1" smtClean="0"/>
              <a:t>is</a:t>
            </a:r>
            <a:r>
              <a:rPr lang="es-AR" dirty="0" smtClean="0"/>
              <a:t> 1+1 que es </a:t>
            </a:r>
            <a:r>
              <a:rPr lang="es-AR" dirty="0" err="1" smtClean="0"/>
              <a:t>erroneo</a:t>
            </a:r>
            <a:r>
              <a:rPr lang="es-AR" dirty="0" smtClean="0"/>
              <a:t>. Vuelve a ligar a N con 2 y </a:t>
            </a:r>
            <a:r>
              <a:rPr lang="es-AR" dirty="0" err="1" smtClean="0"/>
              <a:t>asi</a:t>
            </a:r>
            <a:r>
              <a:rPr lang="es-AR" dirty="0" smtClean="0"/>
              <a:t> hasta llegar a ligar a N con 41 dando el resultado correcto.</a:t>
            </a:r>
            <a:br>
              <a:rPr lang="es-AR" dirty="0" smtClean="0"/>
            </a:br>
            <a:r>
              <a:rPr lang="es-AR" dirty="0" smtClean="0"/>
              <a:t>     </a:t>
            </a:r>
            <a:r>
              <a:rPr lang="es-AR" dirty="0" smtClean="0">
                <a:solidFill>
                  <a:srgbClr val="0070C0"/>
                </a:solidFill>
              </a:rPr>
              <a:t>A ESTE PROCESO DE PRUEBA y ERROR </a:t>
            </a:r>
            <a:r>
              <a:rPr lang="es-AR" dirty="0" smtClean="0"/>
              <a:t>se lo conoce como </a:t>
            </a:r>
            <a:r>
              <a:rPr lang="es-AR" dirty="0" smtClean="0">
                <a:solidFill>
                  <a:srgbClr val="FF0000"/>
                </a:solidFill>
              </a:rPr>
              <a:t>BACKTRACKING</a:t>
            </a:r>
            <a:r>
              <a:rPr lang="es-AR" dirty="0" smtClean="0"/>
              <a:t> </a:t>
            </a:r>
          </a:p>
          <a:p>
            <a:pPr lvl="1"/>
            <a:endParaRPr lang="es-AR" dirty="0" smtClean="0"/>
          </a:p>
          <a:p>
            <a:endParaRPr lang="es-AR" dirty="0" smtClean="0"/>
          </a:p>
          <a:p>
            <a:endParaRPr lang="es-AR" dirty="0"/>
          </a:p>
          <a:p>
            <a:pPr marL="457200" lvl="1" indent="0">
              <a:buNone/>
            </a:pPr>
            <a:endParaRPr lang="es-AR" dirty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226897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 smtClean="0"/>
              <a:t>Cuantificador Universal</a:t>
            </a:r>
          </a:p>
          <a:p>
            <a:pPr lvl="1"/>
            <a:r>
              <a:rPr lang="pt-PT" dirty="0" smtClean="0"/>
              <a:t>forall/2</a:t>
            </a:r>
          </a:p>
          <a:p>
            <a:pPr lvl="1"/>
            <a:endParaRPr lang="pt-PT" dirty="0"/>
          </a:p>
          <a:p>
            <a:pPr lvl="1"/>
            <a:endParaRPr lang="es-AR" dirty="0" smtClean="0"/>
          </a:p>
          <a:p>
            <a:endParaRPr lang="es-AR" dirty="0" smtClean="0"/>
          </a:p>
          <a:p>
            <a:pPr lvl="1"/>
            <a:endParaRPr lang="pt-PT" dirty="0" smtClean="0"/>
          </a:p>
          <a:p>
            <a:pPr lvl="1"/>
            <a:r>
              <a:rPr lang="pt-PT" dirty="0"/>
              <a:t>f</a:t>
            </a:r>
            <a:r>
              <a:rPr lang="pt-PT" dirty="0" smtClean="0"/>
              <a:t>orall(habitat(Animal, Bioma), templado(Bioma))</a:t>
            </a:r>
            <a:endParaRPr lang="es-AR" dirty="0"/>
          </a:p>
          <a:p>
            <a:pPr marL="457200" lvl="1" indent="0">
              <a:buNone/>
            </a:pPr>
            <a:endParaRPr lang="es-AR" dirty="0"/>
          </a:p>
          <a:p>
            <a:pPr lvl="1"/>
            <a:endParaRPr lang="es-AR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659319"/>
            <a:ext cx="158115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1659319"/>
            <a:ext cx="16287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315197"/>
            <a:ext cx="3749402" cy="2193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9060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12568"/>
          </a:xfrm>
        </p:spPr>
        <p:txBody>
          <a:bodyPr>
            <a:normAutofit fontScale="77500" lnSpcReduction="20000"/>
          </a:bodyPr>
          <a:lstStyle/>
          <a:p>
            <a:r>
              <a:rPr lang="es-AR" sz="3500" dirty="0" smtClean="0"/>
              <a:t>Ejercicio 1: Resolver </a:t>
            </a:r>
            <a:r>
              <a:rPr lang="es-AR" sz="3500" dirty="0"/>
              <a:t>un problema para una </a:t>
            </a:r>
            <a:r>
              <a:rPr lang="es-AR" sz="3500" dirty="0" smtClean="0"/>
              <a:t>consultora</a:t>
            </a:r>
            <a:endParaRPr lang="es-AR" sz="3500" dirty="0"/>
          </a:p>
          <a:p>
            <a:pPr lvl="1"/>
            <a:r>
              <a:rPr lang="es-AR" dirty="0">
                <a:sym typeface="Wingdings" panose="05000000000000000000" pitchFamily="2" charset="2"/>
              </a:rPr>
              <a:t>¿Es cierto que alguien </a:t>
            </a:r>
            <a:r>
              <a:rPr lang="es-AR" dirty="0" smtClean="0">
                <a:sym typeface="Wingdings" panose="05000000000000000000" pitchFamily="2" charset="2"/>
              </a:rPr>
              <a:t>programa en Cobol?</a:t>
            </a:r>
            <a:endParaRPr lang="es-AR" dirty="0">
              <a:sym typeface="Wingdings" panose="05000000000000000000" pitchFamily="2" charset="2"/>
            </a:endParaRPr>
          </a:p>
          <a:p>
            <a:pPr lvl="1"/>
            <a:r>
              <a:rPr lang="es-AR" dirty="0">
                <a:sym typeface="Wingdings" panose="05000000000000000000" pitchFamily="2" charset="2"/>
              </a:rPr>
              <a:t>¿Quién o quienes </a:t>
            </a:r>
            <a:r>
              <a:rPr lang="es-AR" dirty="0" smtClean="0">
                <a:sym typeface="Wingdings" panose="05000000000000000000" pitchFamily="2" charset="2"/>
              </a:rPr>
              <a:t>programan en Cobol?</a:t>
            </a:r>
            <a:endParaRPr lang="es-AR" dirty="0">
              <a:sym typeface="Wingdings" panose="05000000000000000000" pitchFamily="2" charset="2"/>
            </a:endParaRPr>
          </a:p>
          <a:p>
            <a:pPr lvl="1"/>
            <a:r>
              <a:rPr lang="es-AR" dirty="0">
                <a:sym typeface="Wingdings" panose="05000000000000000000" pitchFamily="2" charset="2"/>
              </a:rPr>
              <a:t>¿Qué </a:t>
            </a:r>
            <a:r>
              <a:rPr lang="es-AR" dirty="0" smtClean="0">
                <a:sym typeface="Wingdings" panose="05000000000000000000" pitchFamily="2" charset="2"/>
              </a:rPr>
              <a:t>lenguajes maneja María?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¿</a:t>
            </a:r>
            <a:r>
              <a:rPr lang="es-AR" dirty="0" err="1" smtClean="0">
                <a:sym typeface="Wingdings" panose="05000000000000000000" pitchFamily="2" charset="2"/>
              </a:rPr>
              <a:t>Maria</a:t>
            </a:r>
            <a:r>
              <a:rPr lang="es-AR" dirty="0" smtClean="0">
                <a:sym typeface="Wingdings" panose="05000000000000000000" pitchFamily="2" charset="2"/>
              </a:rPr>
              <a:t> y Mario son colegas?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¿Quienes son colegas de lenguajes?</a:t>
            </a:r>
            <a:endParaRPr lang="es-AR" dirty="0">
              <a:sym typeface="Wingdings" panose="05000000000000000000" pitchFamily="2" charset="2"/>
            </a:endParaRPr>
          </a:p>
          <a:p>
            <a:r>
              <a:rPr lang="es-AR" dirty="0" smtClean="0"/>
              <a:t>BD:</a:t>
            </a:r>
          </a:p>
          <a:p>
            <a:pPr lvl="1"/>
            <a:r>
              <a:rPr lang="es-AR" dirty="0" err="1" smtClean="0"/>
              <a:t>programaEn</a:t>
            </a:r>
            <a:r>
              <a:rPr lang="es-AR" dirty="0" smtClean="0"/>
              <a:t>(</a:t>
            </a:r>
            <a:r>
              <a:rPr lang="es-AR" dirty="0" err="1" smtClean="0"/>
              <a:t>maria</a:t>
            </a:r>
            <a:r>
              <a:rPr lang="es-AR" dirty="0" smtClean="0"/>
              <a:t>, cobol).</a:t>
            </a:r>
          </a:p>
          <a:p>
            <a:pPr lvl="1"/>
            <a:r>
              <a:rPr lang="es-AR" dirty="0" err="1"/>
              <a:t>programaEn</a:t>
            </a:r>
            <a:r>
              <a:rPr lang="es-AR" dirty="0"/>
              <a:t>(</a:t>
            </a:r>
            <a:r>
              <a:rPr lang="es-AR" dirty="0" err="1"/>
              <a:t>maria</a:t>
            </a:r>
            <a:r>
              <a:rPr lang="es-AR" dirty="0"/>
              <a:t>, </a:t>
            </a:r>
            <a:r>
              <a:rPr lang="es-AR" dirty="0" smtClean="0"/>
              <a:t>java).</a:t>
            </a:r>
          </a:p>
          <a:p>
            <a:pPr lvl="1"/>
            <a:r>
              <a:rPr lang="es-AR" dirty="0" err="1" smtClean="0"/>
              <a:t>programaEn</a:t>
            </a:r>
            <a:r>
              <a:rPr lang="es-AR" dirty="0" smtClean="0"/>
              <a:t>(</a:t>
            </a:r>
            <a:r>
              <a:rPr lang="es-AR" dirty="0" err="1" smtClean="0"/>
              <a:t>mario</a:t>
            </a:r>
            <a:r>
              <a:rPr lang="es-AR" dirty="0" smtClean="0"/>
              <a:t>, </a:t>
            </a:r>
            <a:r>
              <a:rPr lang="es-AR" dirty="0"/>
              <a:t>cobol</a:t>
            </a:r>
            <a:r>
              <a:rPr lang="es-AR" dirty="0" smtClean="0"/>
              <a:t>).</a:t>
            </a:r>
          </a:p>
          <a:p>
            <a:pPr lvl="1"/>
            <a:r>
              <a:rPr lang="es-AR" dirty="0" err="1" smtClean="0"/>
              <a:t>programaEn</a:t>
            </a:r>
            <a:r>
              <a:rPr lang="es-AR" dirty="0" smtClean="0"/>
              <a:t>(</a:t>
            </a:r>
            <a:r>
              <a:rPr lang="es-AR" dirty="0" err="1" smtClean="0"/>
              <a:t>mario</a:t>
            </a:r>
            <a:r>
              <a:rPr lang="es-AR" dirty="0" smtClean="0"/>
              <a:t>, </a:t>
            </a:r>
            <a:r>
              <a:rPr lang="es-AR" dirty="0" err="1" smtClean="0"/>
              <a:t>python</a:t>
            </a:r>
            <a:r>
              <a:rPr lang="es-AR" dirty="0" smtClean="0"/>
              <a:t>).</a:t>
            </a:r>
          </a:p>
          <a:p>
            <a:pPr lvl="1"/>
            <a:r>
              <a:rPr lang="es-AR" dirty="0" err="1" smtClean="0"/>
              <a:t>programaEn</a:t>
            </a:r>
            <a:r>
              <a:rPr lang="es-AR" dirty="0" smtClean="0"/>
              <a:t>(</a:t>
            </a:r>
            <a:r>
              <a:rPr lang="es-AR" dirty="0" err="1" smtClean="0"/>
              <a:t>jose</a:t>
            </a:r>
            <a:r>
              <a:rPr lang="es-AR" dirty="0" smtClean="0"/>
              <a:t>, </a:t>
            </a:r>
            <a:r>
              <a:rPr lang="es-AR" dirty="0"/>
              <a:t>cobol</a:t>
            </a:r>
            <a:r>
              <a:rPr lang="es-AR" dirty="0" smtClean="0"/>
              <a:t>).</a:t>
            </a:r>
          </a:p>
          <a:p>
            <a:pPr lvl="1"/>
            <a:r>
              <a:rPr lang="es-AR" dirty="0" err="1" smtClean="0"/>
              <a:t>programaEn</a:t>
            </a:r>
            <a:r>
              <a:rPr lang="es-AR" dirty="0" smtClean="0"/>
              <a:t>(</a:t>
            </a:r>
            <a:r>
              <a:rPr lang="es-AR" dirty="0" err="1" smtClean="0"/>
              <a:t>jorge,java</a:t>
            </a:r>
            <a:r>
              <a:rPr lang="es-AR" dirty="0" smtClean="0"/>
              <a:t>).</a:t>
            </a:r>
          </a:p>
          <a:p>
            <a:pPr lvl="1"/>
            <a:r>
              <a:rPr lang="es-AR" dirty="0" err="1" smtClean="0"/>
              <a:t>programaEn</a:t>
            </a:r>
            <a:r>
              <a:rPr lang="es-AR" dirty="0" smtClean="0"/>
              <a:t>(</a:t>
            </a:r>
            <a:r>
              <a:rPr lang="es-AR" dirty="0" err="1" smtClean="0"/>
              <a:t>jorge,python</a:t>
            </a:r>
            <a:r>
              <a:rPr lang="es-AR" dirty="0" smtClean="0"/>
              <a:t>).</a:t>
            </a:r>
            <a:endParaRPr lang="es-AR" dirty="0"/>
          </a:p>
          <a:p>
            <a:pPr lvl="1"/>
            <a:endParaRPr lang="es-AR" dirty="0"/>
          </a:p>
          <a:p>
            <a:pPr lvl="1"/>
            <a:endParaRPr lang="es-AR" dirty="0"/>
          </a:p>
          <a:p>
            <a:pPr lvl="1"/>
            <a:endParaRPr lang="es-AR" dirty="0"/>
          </a:p>
          <a:p>
            <a:pPr lvl="1"/>
            <a:endParaRPr lang="es-AR" dirty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621043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12568"/>
          </a:xfrm>
        </p:spPr>
        <p:txBody>
          <a:bodyPr>
            <a:normAutofit fontScale="77500" lnSpcReduction="20000"/>
          </a:bodyPr>
          <a:lstStyle/>
          <a:p>
            <a:r>
              <a:rPr lang="es-AR" sz="3500" dirty="0" smtClean="0"/>
              <a:t>Ejercicio 2: Se pide armar el árbol familiar Real Inglés, usando la relación “</a:t>
            </a:r>
            <a:r>
              <a:rPr lang="es-AR" sz="3500" dirty="0" err="1" smtClean="0"/>
              <a:t>esHijoDe</a:t>
            </a:r>
            <a:r>
              <a:rPr lang="es-AR" sz="3500" dirty="0" smtClean="0"/>
              <a:t>”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¿</a:t>
            </a:r>
            <a:r>
              <a:rPr lang="es-AR" dirty="0">
                <a:sym typeface="Wingdings" panose="05000000000000000000" pitchFamily="2" charset="2"/>
              </a:rPr>
              <a:t>Es cierto </a:t>
            </a:r>
            <a:r>
              <a:rPr lang="es-AR" dirty="0" smtClean="0">
                <a:sym typeface="Wingdings" panose="05000000000000000000" pitchFamily="2" charset="2"/>
              </a:rPr>
              <a:t>que la reina Isabel tiene hijos?	</a:t>
            </a:r>
            <a:endParaRPr lang="es-AR" dirty="0">
              <a:sym typeface="Wingdings" panose="05000000000000000000" pitchFamily="2" charset="2"/>
            </a:endParaRPr>
          </a:p>
          <a:p>
            <a:pPr lvl="1"/>
            <a:r>
              <a:rPr lang="es-AR" dirty="0">
                <a:sym typeface="Wingdings" panose="05000000000000000000" pitchFamily="2" charset="2"/>
              </a:rPr>
              <a:t>¿Quién o quienes </a:t>
            </a:r>
            <a:r>
              <a:rPr lang="es-AR" dirty="0" smtClean="0">
                <a:sym typeface="Wingdings" panose="05000000000000000000" pitchFamily="2" charset="2"/>
              </a:rPr>
              <a:t>son hijos de la reina Isabel?</a:t>
            </a:r>
            <a:endParaRPr lang="es-AR" dirty="0">
              <a:sym typeface="Wingdings" panose="05000000000000000000" pitchFamily="2" charset="2"/>
            </a:endParaRPr>
          </a:p>
          <a:p>
            <a:pPr lvl="1"/>
            <a:r>
              <a:rPr lang="es-AR" dirty="0">
                <a:sym typeface="Wingdings" panose="05000000000000000000" pitchFamily="2" charset="2"/>
              </a:rPr>
              <a:t>¿</a:t>
            </a:r>
            <a:r>
              <a:rPr lang="es-AR" dirty="0" smtClean="0">
                <a:sym typeface="Wingdings" panose="05000000000000000000" pitchFamily="2" charset="2"/>
              </a:rPr>
              <a:t>Quiénes son los nietos del Carlos III?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¿Es cierto que Archie es primo del príncipe Jorge?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¿Quienes son primos?</a:t>
            </a:r>
            <a:endParaRPr lang="es-AR" dirty="0">
              <a:sym typeface="Wingdings" panose="05000000000000000000" pitchFamily="2" charset="2"/>
            </a:endParaRPr>
          </a:p>
          <a:p>
            <a:r>
              <a:rPr lang="es-AR" dirty="0" smtClean="0"/>
              <a:t>BD:</a:t>
            </a:r>
          </a:p>
          <a:p>
            <a:pPr lvl="1"/>
            <a:r>
              <a:rPr lang="es-AR" dirty="0" err="1" smtClean="0"/>
              <a:t>esHijoDe</a:t>
            </a:r>
            <a:r>
              <a:rPr lang="es-AR" dirty="0" smtClean="0"/>
              <a:t>(</a:t>
            </a:r>
            <a:r>
              <a:rPr lang="es-AR" dirty="0" err="1" smtClean="0"/>
              <a:t>carlosIII</a:t>
            </a:r>
            <a:r>
              <a:rPr lang="es-AR" dirty="0" smtClean="0"/>
              <a:t>, </a:t>
            </a:r>
            <a:r>
              <a:rPr lang="es-AR" dirty="0" err="1" smtClean="0"/>
              <a:t>isabelII</a:t>
            </a:r>
            <a:r>
              <a:rPr lang="es-AR" dirty="0" smtClean="0"/>
              <a:t>).</a:t>
            </a:r>
          </a:p>
          <a:p>
            <a:pPr lvl="1"/>
            <a:r>
              <a:rPr lang="es-AR" dirty="0" err="1" smtClean="0"/>
              <a:t>esHijoDe</a:t>
            </a:r>
            <a:r>
              <a:rPr lang="es-AR" dirty="0" smtClean="0"/>
              <a:t>(</a:t>
            </a:r>
            <a:r>
              <a:rPr lang="es-AR" dirty="0" err="1" smtClean="0"/>
              <a:t>ana</a:t>
            </a:r>
            <a:r>
              <a:rPr lang="es-AR" dirty="0" smtClean="0"/>
              <a:t>, </a:t>
            </a:r>
            <a:r>
              <a:rPr lang="es-AR" dirty="0" err="1" smtClean="0"/>
              <a:t>isabelII</a:t>
            </a:r>
            <a:r>
              <a:rPr lang="es-AR" dirty="0" smtClean="0"/>
              <a:t>).</a:t>
            </a:r>
          </a:p>
          <a:p>
            <a:pPr lvl="1"/>
            <a:r>
              <a:rPr lang="es-AR" dirty="0" err="1" smtClean="0"/>
              <a:t>esHijoDe</a:t>
            </a:r>
            <a:r>
              <a:rPr lang="es-AR" dirty="0" smtClean="0"/>
              <a:t>(</a:t>
            </a:r>
            <a:r>
              <a:rPr lang="es-AR" dirty="0" err="1" smtClean="0"/>
              <a:t>andrew</a:t>
            </a:r>
            <a:r>
              <a:rPr lang="es-AR" dirty="0" smtClean="0"/>
              <a:t>, </a:t>
            </a:r>
            <a:r>
              <a:rPr lang="es-AR" dirty="0" err="1"/>
              <a:t>isabelII</a:t>
            </a:r>
            <a:r>
              <a:rPr lang="es-AR" dirty="0"/>
              <a:t>).</a:t>
            </a:r>
          </a:p>
          <a:p>
            <a:pPr lvl="1"/>
            <a:r>
              <a:rPr lang="es-AR" dirty="0" err="1" smtClean="0"/>
              <a:t>esHijoDe</a:t>
            </a:r>
            <a:r>
              <a:rPr lang="es-AR" dirty="0" smtClean="0"/>
              <a:t>(</a:t>
            </a:r>
            <a:r>
              <a:rPr lang="es-AR" dirty="0" err="1" smtClean="0"/>
              <a:t>edward</a:t>
            </a:r>
            <a:r>
              <a:rPr lang="es-AR" dirty="0" smtClean="0"/>
              <a:t>, </a:t>
            </a:r>
            <a:r>
              <a:rPr lang="es-AR" dirty="0" err="1"/>
              <a:t>isabelII</a:t>
            </a:r>
            <a:r>
              <a:rPr lang="es-AR" dirty="0" smtClean="0"/>
              <a:t>).</a:t>
            </a:r>
            <a:endParaRPr lang="es-AR" dirty="0"/>
          </a:p>
          <a:p>
            <a:pPr lvl="1"/>
            <a:r>
              <a:rPr lang="es-AR" dirty="0" err="1" smtClean="0"/>
              <a:t>esHijoDe</a:t>
            </a:r>
            <a:r>
              <a:rPr lang="es-AR" dirty="0" smtClean="0"/>
              <a:t>(</a:t>
            </a:r>
            <a:r>
              <a:rPr lang="es-AR" dirty="0" err="1" smtClean="0"/>
              <a:t>henry</a:t>
            </a:r>
            <a:r>
              <a:rPr lang="es-AR" dirty="0" smtClean="0"/>
              <a:t>, </a:t>
            </a:r>
            <a:r>
              <a:rPr lang="es-AR" dirty="0" err="1" smtClean="0"/>
              <a:t>carlosII</a:t>
            </a:r>
            <a:r>
              <a:rPr lang="es-AR" dirty="0" smtClean="0"/>
              <a:t>).</a:t>
            </a:r>
            <a:endParaRPr lang="es-AR" dirty="0"/>
          </a:p>
          <a:p>
            <a:pPr lvl="1"/>
            <a:r>
              <a:rPr lang="es-AR" dirty="0" smtClean="0"/>
              <a:t>……….</a:t>
            </a:r>
            <a:endParaRPr lang="es-AR" dirty="0"/>
          </a:p>
          <a:p>
            <a:pPr marL="457200" lvl="1" indent="0">
              <a:buNone/>
            </a:pPr>
            <a:endParaRPr lang="es-AR" dirty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573016"/>
            <a:ext cx="3462834" cy="2596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186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5256584"/>
          </a:xfrm>
        </p:spPr>
        <p:txBody>
          <a:bodyPr>
            <a:normAutofit fontScale="77500" lnSpcReduction="20000"/>
          </a:bodyPr>
          <a:lstStyle/>
          <a:p>
            <a:r>
              <a:rPr lang="es-AR" sz="3500" dirty="0" smtClean="0"/>
              <a:t>Ejercicio 3: Definir las reglas para resolver el siguiente problema:</a:t>
            </a:r>
          </a:p>
          <a:p>
            <a:pPr lvl="1"/>
            <a:r>
              <a:rPr lang="es-AR" dirty="0" smtClean="0"/>
              <a:t>En </a:t>
            </a:r>
            <a:r>
              <a:rPr lang="es-AR" dirty="0" err="1" smtClean="0"/>
              <a:t>Haskell</a:t>
            </a:r>
            <a:r>
              <a:rPr lang="es-AR" dirty="0" smtClean="0"/>
              <a:t>, la operación que está permitida sobre un tipo de dato depende de la </a:t>
            </a:r>
            <a:r>
              <a:rPr lang="es-AR" dirty="0" err="1" smtClean="0"/>
              <a:t>TypeClass</a:t>
            </a:r>
            <a:r>
              <a:rPr lang="es-AR" dirty="0" smtClean="0"/>
              <a:t> a la que pertenece. Cada </a:t>
            </a:r>
            <a:r>
              <a:rPr lang="es-AR" dirty="0" err="1" smtClean="0"/>
              <a:t>type</a:t>
            </a:r>
            <a:r>
              <a:rPr lang="es-AR" dirty="0" smtClean="0"/>
              <a:t> </a:t>
            </a:r>
            <a:r>
              <a:rPr lang="es-AR" dirty="0" err="1" smtClean="0"/>
              <a:t>class</a:t>
            </a:r>
            <a:r>
              <a:rPr lang="es-AR" dirty="0" smtClean="0"/>
              <a:t> tiene las siguientes operaciones permitidas.</a:t>
            </a:r>
          </a:p>
          <a:p>
            <a:pPr lvl="1"/>
            <a:r>
              <a:rPr lang="es-AR" dirty="0" smtClean="0"/>
              <a:t>La consulta es puedo usar tal operación en tal clase?</a:t>
            </a:r>
          </a:p>
          <a:p>
            <a:pPr lvl="2"/>
            <a:r>
              <a:rPr lang="es-AR" dirty="0" smtClean="0"/>
              <a:t>Los </a:t>
            </a:r>
            <a:r>
              <a:rPr lang="es-AR" dirty="0" err="1" smtClean="0"/>
              <a:t>Num</a:t>
            </a:r>
            <a:r>
              <a:rPr lang="es-AR" dirty="0" smtClean="0"/>
              <a:t> pueden ser sumados, restados, multiplicados.</a:t>
            </a:r>
          </a:p>
          <a:p>
            <a:pPr lvl="2"/>
            <a:r>
              <a:rPr lang="es-AR" dirty="0" smtClean="0"/>
              <a:t>Los </a:t>
            </a:r>
            <a:r>
              <a:rPr lang="es-AR" dirty="0" err="1" smtClean="0"/>
              <a:t>Fractional</a:t>
            </a:r>
            <a:r>
              <a:rPr lang="es-AR" dirty="0" smtClean="0"/>
              <a:t> pueden ser divididos</a:t>
            </a:r>
          </a:p>
          <a:p>
            <a:pPr lvl="2"/>
            <a:r>
              <a:rPr lang="es-AR" dirty="0" smtClean="0"/>
              <a:t>A los show se los puede mostrar</a:t>
            </a:r>
          </a:p>
          <a:p>
            <a:pPr lvl="2"/>
            <a:r>
              <a:rPr lang="es-AR" dirty="0" smtClean="0"/>
              <a:t>Relaciones: </a:t>
            </a:r>
          </a:p>
          <a:p>
            <a:pPr lvl="3"/>
            <a:r>
              <a:rPr lang="es-AR" dirty="0" smtClean="0"/>
              <a:t>Los </a:t>
            </a:r>
            <a:r>
              <a:rPr lang="es-AR" dirty="0" err="1" smtClean="0"/>
              <a:t>Int</a:t>
            </a:r>
            <a:r>
              <a:rPr lang="es-AR" dirty="0" smtClean="0"/>
              <a:t> son </a:t>
            </a:r>
            <a:r>
              <a:rPr lang="es-AR" dirty="0" err="1" smtClean="0"/>
              <a:t>Num</a:t>
            </a:r>
            <a:r>
              <a:rPr lang="es-AR" dirty="0" smtClean="0"/>
              <a:t> y Show</a:t>
            </a:r>
          </a:p>
          <a:p>
            <a:pPr lvl="3"/>
            <a:r>
              <a:rPr lang="es-AR" dirty="0" smtClean="0"/>
              <a:t>Los </a:t>
            </a:r>
            <a:r>
              <a:rPr lang="es-AR" dirty="0" err="1" smtClean="0"/>
              <a:t>Float</a:t>
            </a:r>
            <a:r>
              <a:rPr lang="es-AR" dirty="0" smtClean="0"/>
              <a:t> y </a:t>
            </a:r>
            <a:r>
              <a:rPr lang="es-AR" dirty="0" err="1" smtClean="0"/>
              <a:t>Double</a:t>
            </a:r>
            <a:r>
              <a:rPr lang="es-AR" dirty="0" smtClean="0"/>
              <a:t> son </a:t>
            </a:r>
            <a:r>
              <a:rPr lang="es-AR" dirty="0" err="1" smtClean="0"/>
              <a:t>Fractional</a:t>
            </a:r>
            <a:r>
              <a:rPr lang="es-AR" dirty="0" smtClean="0"/>
              <a:t> y Show</a:t>
            </a:r>
          </a:p>
          <a:p>
            <a:pPr lvl="3"/>
            <a:r>
              <a:rPr lang="es-AR" dirty="0" smtClean="0"/>
              <a:t>Los </a:t>
            </a:r>
            <a:r>
              <a:rPr lang="es-AR" dirty="0" err="1" smtClean="0"/>
              <a:t>Bool</a:t>
            </a:r>
            <a:r>
              <a:rPr lang="es-AR" dirty="0" smtClean="0"/>
              <a:t> son solo Show</a:t>
            </a:r>
          </a:p>
          <a:p>
            <a:pPr lvl="2"/>
            <a:r>
              <a:rPr lang="es-AR" dirty="0" smtClean="0"/>
              <a:t>Y todos los </a:t>
            </a:r>
            <a:r>
              <a:rPr lang="es-AR" dirty="0" err="1"/>
              <a:t>F</a:t>
            </a:r>
            <a:r>
              <a:rPr lang="es-AR" dirty="0" err="1" smtClean="0"/>
              <a:t>ractional</a:t>
            </a:r>
            <a:r>
              <a:rPr lang="es-AR" dirty="0" smtClean="0"/>
              <a:t> son </a:t>
            </a:r>
            <a:r>
              <a:rPr lang="es-AR" dirty="0" err="1" smtClean="0"/>
              <a:t>Num</a:t>
            </a:r>
            <a:endParaRPr lang="es-AR" dirty="0" smtClean="0"/>
          </a:p>
          <a:p>
            <a:pPr lvl="2"/>
            <a:endParaRPr lang="es-AR" dirty="0" smtClean="0"/>
          </a:p>
          <a:p>
            <a:r>
              <a:rPr lang="es-AR" dirty="0" smtClean="0"/>
              <a:t>Utilizar </a:t>
            </a:r>
            <a:r>
              <a:rPr lang="es-AR" dirty="0" err="1" smtClean="0"/>
              <a:t>operacionPermitida</a:t>
            </a:r>
            <a:r>
              <a:rPr lang="es-AR" dirty="0" smtClean="0"/>
              <a:t>(Operación, </a:t>
            </a:r>
            <a:r>
              <a:rPr lang="es-AR" dirty="0" err="1" smtClean="0"/>
              <a:t>ClaseTipo</a:t>
            </a:r>
            <a:r>
              <a:rPr lang="es-AR" dirty="0" smtClean="0"/>
              <a:t>) y pertenece(Clase, </a:t>
            </a:r>
            <a:r>
              <a:rPr lang="es-AR" dirty="0" err="1" smtClean="0"/>
              <a:t>ClaseTipo</a:t>
            </a:r>
            <a:r>
              <a:rPr lang="es-AR" dirty="0" smtClean="0"/>
              <a:t>).</a:t>
            </a:r>
          </a:p>
          <a:p>
            <a:endParaRPr lang="es-AR" dirty="0" smtClean="0"/>
          </a:p>
          <a:p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455283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 fontScale="92500" lnSpcReduction="20000"/>
          </a:bodyPr>
          <a:lstStyle/>
          <a:p>
            <a:r>
              <a:rPr lang="es-AR" sz="2900" dirty="0" smtClean="0"/>
              <a:t>Ejercicio 4: Analizar la </a:t>
            </a:r>
            <a:r>
              <a:rPr lang="es-AR" sz="2900" dirty="0" err="1" smtClean="0"/>
              <a:t>inversibilidad</a:t>
            </a:r>
            <a:r>
              <a:rPr lang="es-AR" sz="2900" dirty="0" smtClean="0"/>
              <a:t> de los siguientes predicados:</a:t>
            </a:r>
          </a:p>
          <a:p>
            <a:pPr lvl="1"/>
            <a:r>
              <a:rPr lang="es-AR" sz="2600" b="1" dirty="0" smtClean="0">
                <a:solidFill>
                  <a:srgbClr val="FF0000"/>
                </a:solidFill>
              </a:rPr>
              <a:t>%amigo(Uno, Otro)</a:t>
            </a:r>
          </a:p>
          <a:p>
            <a:pPr lvl="1"/>
            <a:r>
              <a:rPr lang="es-AR" sz="2600" dirty="0" smtClean="0"/>
              <a:t>amigo(</a:t>
            </a:r>
            <a:r>
              <a:rPr lang="es-AR" sz="2600" dirty="0" err="1" smtClean="0"/>
              <a:t>nico</a:t>
            </a:r>
            <a:r>
              <a:rPr lang="es-AR" sz="2600" dirty="0" smtClean="0"/>
              <a:t>, </a:t>
            </a:r>
            <a:r>
              <a:rPr lang="es-AR" sz="2600" dirty="0" err="1" smtClean="0"/>
              <a:t>fernando</a:t>
            </a:r>
            <a:r>
              <a:rPr lang="es-AR" sz="2600" dirty="0" smtClean="0"/>
              <a:t>).</a:t>
            </a:r>
          </a:p>
          <a:p>
            <a:pPr lvl="1"/>
            <a:r>
              <a:rPr lang="es-AR" sz="2600" dirty="0" smtClean="0"/>
              <a:t>amigo(</a:t>
            </a:r>
            <a:r>
              <a:rPr lang="es-AR" sz="2600" dirty="0" err="1" smtClean="0"/>
              <a:t>axel</a:t>
            </a:r>
            <a:r>
              <a:rPr lang="es-AR" sz="2600" dirty="0" smtClean="0"/>
              <a:t>, Persona) :- Amigo(Persona, </a:t>
            </a:r>
            <a:r>
              <a:rPr lang="es-AR" sz="2600" dirty="0" err="1" smtClean="0"/>
              <a:t>nico</a:t>
            </a:r>
            <a:r>
              <a:rPr lang="es-AR" sz="2600" dirty="0" smtClean="0"/>
              <a:t>).</a:t>
            </a:r>
          </a:p>
          <a:p>
            <a:pPr lvl="1"/>
            <a:r>
              <a:rPr lang="es-AR" sz="2600" dirty="0" smtClean="0"/>
              <a:t>amigo(</a:t>
            </a:r>
            <a:r>
              <a:rPr lang="es-AR" sz="2600" dirty="0" err="1" smtClean="0"/>
              <a:t>alf</a:t>
            </a:r>
            <a:r>
              <a:rPr lang="es-AR" sz="2600" dirty="0" smtClean="0"/>
              <a:t>, _).</a:t>
            </a:r>
          </a:p>
          <a:p>
            <a:pPr lvl="1"/>
            <a:endParaRPr lang="es-AR" sz="2600" dirty="0" smtClean="0"/>
          </a:p>
          <a:p>
            <a:pPr lvl="1"/>
            <a:r>
              <a:rPr lang="es-AR" sz="2600" b="1" dirty="0" smtClean="0">
                <a:solidFill>
                  <a:srgbClr val="FF0000"/>
                </a:solidFill>
              </a:rPr>
              <a:t>%id(Algo, </a:t>
            </a:r>
            <a:r>
              <a:rPr lang="es-AR" sz="2600" b="1" dirty="0" err="1" smtClean="0">
                <a:solidFill>
                  <a:srgbClr val="FF0000"/>
                </a:solidFill>
              </a:rPr>
              <a:t>LoMismo</a:t>
            </a:r>
            <a:r>
              <a:rPr lang="es-AR" sz="2600" b="1" dirty="0" smtClean="0">
                <a:solidFill>
                  <a:srgbClr val="FF0000"/>
                </a:solidFill>
              </a:rPr>
              <a:t>).</a:t>
            </a:r>
          </a:p>
          <a:p>
            <a:pPr lvl="1"/>
            <a:r>
              <a:rPr lang="es-AR" sz="2600" dirty="0" smtClean="0"/>
              <a:t>id(X, X)</a:t>
            </a:r>
          </a:p>
          <a:p>
            <a:pPr lvl="1"/>
            <a:endParaRPr lang="es-AR" sz="2600" dirty="0" smtClean="0"/>
          </a:p>
          <a:p>
            <a:pPr lvl="1"/>
            <a:r>
              <a:rPr lang="es-AR" sz="2600" b="1" dirty="0" smtClean="0">
                <a:solidFill>
                  <a:srgbClr val="FF0000"/>
                </a:solidFill>
              </a:rPr>
              <a:t>%</a:t>
            </a:r>
            <a:r>
              <a:rPr lang="es-AR" sz="2600" b="1" dirty="0" err="1" smtClean="0">
                <a:solidFill>
                  <a:srgbClr val="FF0000"/>
                </a:solidFill>
              </a:rPr>
              <a:t>mayorDeEdad</a:t>
            </a:r>
            <a:r>
              <a:rPr lang="es-AR" sz="2600" b="1" dirty="0" smtClean="0">
                <a:solidFill>
                  <a:srgbClr val="FF0000"/>
                </a:solidFill>
              </a:rPr>
              <a:t>(Persona)</a:t>
            </a:r>
          </a:p>
          <a:p>
            <a:pPr lvl="1"/>
            <a:r>
              <a:rPr lang="es-AR" sz="2600" dirty="0" err="1" smtClean="0"/>
              <a:t>mayorDeEdad</a:t>
            </a:r>
            <a:r>
              <a:rPr lang="es-AR" sz="2600" dirty="0" smtClean="0"/>
              <a:t>(Persona) :- Edad &gt; 18, edad(Persona, Edad).</a:t>
            </a:r>
          </a:p>
          <a:p>
            <a:endParaRPr lang="es-AR" sz="3000" dirty="0" smtClean="0"/>
          </a:p>
        </p:txBody>
      </p:sp>
    </p:spTree>
    <p:extLst>
      <p:ext uri="{BB962C8B-B14F-4D97-AF65-F5344CB8AC3E}">
        <p14:creationId xmlns:p14="http://schemas.microsoft.com/office/powerpoint/2010/main" val="90467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268960"/>
          </a:xfrm>
        </p:spPr>
        <p:txBody>
          <a:bodyPr>
            <a:normAutofit fontScale="85000" lnSpcReduction="20000"/>
          </a:bodyPr>
          <a:lstStyle/>
          <a:p>
            <a:r>
              <a:rPr lang="es-AR" dirty="0" smtClean="0"/>
              <a:t>Ejercicio 5: Dado el predicado </a:t>
            </a:r>
            <a:r>
              <a:rPr lang="es-AR" dirty="0" err="1" smtClean="0"/>
              <a:t>inversible</a:t>
            </a:r>
            <a:r>
              <a:rPr lang="es-AR" dirty="0" smtClean="0"/>
              <a:t> </a:t>
            </a:r>
            <a:r>
              <a:rPr lang="es-AR" b="1" dirty="0" smtClean="0"/>
              <a:t>padre/2</a:t>
            </a:r>
            <a:r>
              <a:rPr lang="es-AR" dirty="0"/>
              <a:t> </a:t>
            </a:r>
            <a:r>
              <a:rPr lang="es-AR" dirty="0" smtClean="0"/>
              <a:t>definir los predicados </a:t>
            </a:r>
            <a:r>
              <a:rPr lang="es-AR" b="1" dirty="0" smtClean="0"/>
              <a:t>abuelo/2, hermano/2</a:t>
            </a:r>
            <a:r>
              <a:rPr lang="es-AR" dirty="0" smtClean="0"/>
              <a:t> y </a:t>
            </a:r>
            <a:r>
              <a:rPr lang="es-AR" b="1" dirty="0" smtClean="0"/>
              <a:t>ancestro/2</a:t>
            </a:r>
          </a:p>
          <a:p>
            <a:pPr lvl="1"/>
            <a:endParaRPr lang="es-AR" b="1" dirty="0" smtClean="0"/>
          </a:p>
          <a:p>
            <a:r>
              <a:rPr lang="es-AR" dirty="0" smtClean="0"/>
              <a:t>El </a:t>
            </a:r>
            <a:r>
              <a:rPr lang="es-AR" dirty="0" smtClean="0"/>
              <a:t>siguiente </a:t>
            </a:r>
            <a:r>
              <a:rPr lang="es-AR" dirty="0" smtClean="0"/>
              <a:t>predicado </a:t>
            </a:r>
            <a:r>
              <a:rPr lang="es-AR" dirty="0" smtClean="0"/>
              <a:t>hermano es </a:t>
            </a:r>
            <a:r>
              <a:rPr lang="es-AR" dirty="0" err="1" smtClean="0"/>
              <a:t>inversible</a:t>
            </a:r>
            <a:r>
              <a:rPr lang="es-AR" dirty="0" smtClean="0"/>
              <a:t>?</a:t>
            </a:r>
          </a:p>
          <a:p>
            <a:pPr marL="742950" lvl="2" indent="-342900"/>
            <a:r>
              <a:rPr lang="es-AR" dirty="0"/>
              <a:t>hermano(Uno, Otro) :- </a:t>
            </a:r>
            <a:r>
              <a:rPr lang="es-AR" dirty="0" smtClean="0"/>
              <a:t>padre(</a:t>
            </a:r>
            <a:r>
              <a:rPr lang="es-AR" dirty="0" err="1" smtClean="0"/>
              <a:t>Alguien,Uno</a:t>
            </a:r>
            <a:r>
              <a:rPr lang="es-AR" dirty="0"/>
              <a:t>), </a:t>
            </a:r>
            <a:r>
              <a:rPr lang="es-AR" b="1" dirty="0"/>
              <a:t>Uno \= </a:t>
            </a:r>
            <a:r>
              <a:rPr lang="es-AR" b="1" dirty="0" smtClean="0"/>
              <a:t>Otro</a:t>
            </a:r>
            <a:r>
              <a:rPr lang="es-AR" dirty="0" smtClean="0"/>
              <a:t>, padre(</a:t>
            </a:r>
            <a:r>
              <a:rPr lang="es-AR" dirty="0" err="1" smtClean="0"/>
              <a:t>Alguien,Otro</a:t>
            </a:r>
            <a:r>
              <a:rPr lang="es-AR" dirty="0" smtClean="0"/>
              <a:t>).</a:t>
            </a:r>
          </a:p>
          <a:p>
            <a:pPr marL="742950" lvl="2" indent="-342900"/>
            <a:endParaRPr lang="es-AR" dirty="0" smtClean="0"/>
          </a:p>
          <a:p>
            <a:pPr marL="342900" lvl="1" indent="-342900"/>
            <a:r>
              <a:rPr lang="pt-PT" dirty="0" smtClean="0"/>
              <a:t>Como serían los predicados de Primo? Y de Tio?</a:t>
            </a:r>
            <a:endParaRPr lang="es-AR" dirty="0"/>
          </a:p>
          <a:p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3045101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5445224"/>
          </a:xfrm>
        </p:spPr>
        <p:txBody>
          <a:bodyPr>
            <a:normAutofit fontScale="70000" lnSpcReduction="20000"/>
          </a:bodyPr>
          <a:lstStyle/>
          <a:p>
            <a:r>
              <a:rPr lang="pt-PT" sz="3900" dirty="0" smtClean="0"/>
              <a:t>Ejercicio 6: Dado los siguientes partidos responder:</a:t>
            </a:r>
          </a:p>
          <a:p>
            <a:pPr lvl="1"/>
            <a:r>
              <a:rPr lang="pt-PT" dirty="0" smtClean="0"/>
              <a:t>Los Equipos africanos hacen muchos goles (goles&gt;2).</a:t>
            </a:r>
          </a:p>
          <a:p>
            <a:pPr lvl="1"/>
            <a:r>
              <a:rPr lang="pt-PT" dirty="0" smtClean="0"/>
              <a:t>Hubo una goleada (&gt;3) entre dos Equipos</a:t>
            </a:r>
            <a:r>
              <a:rPr lang="pt-PT" dirty="0" smtClean="0"/>
              <a:t>?.</a:t>
            </a:r>
            <a:endParaRPr lang="pt-PT" dirty="0"/>
          </a:p>
          <a:p>
            <a:r>
              <a:rPr lang="pt-PT" b="1" dirty="0" smtClean="0"/>
              <a:t>BD:</a:t>
            </a:r>
            <a:endParaRPr lang="pt-PT" b="1" dirty="0" smtClean="0"/>
          </a:p>
          <a:p>
            <a:pPr lvl="1"/>
            <a:r>
              <a:rPr lang="es-AR" dirty="0"/>
              <a:t>partido(islandia,5,croacia,1).</a:t>
            </a:r>
          </a:p>
          <a:p>
            <a:pPr lvl="1"/>
            <a:r>
              <a:rPr lang="es-AR" dirty="0"/>
              <a:t>partido(nigeria,0,argentina,1).</a:t>
            </a:r>
          </a:p>
          <a:p>
            <a:pPr lvl="1"/>
            <a:r>
              <a:rPr lang="es-AR" dirty="0"/>
              <a:t>partido(croacia,0,argentina,6).</a:t>
            </a:r>
          </a:p>
          <a:p>
            <a:pPr lvl="1"/>
            <a:r>
              <a:rPr lang="es-AR" dirty="0"/>
              <a:t>partido(brasil,5,costaRica,0).</a:t>
            </a:r>
          </a:p>
          <a:p>
            <a:pPr lvl="1"/>
            <a:r>
              <a:rPr lang="es-AR" dirty="0"/>
              <a:t>partido(brasil,2,croacia,2).</a:t>
            </a:r>
          </a:p>
          <a:p>
            <a:pPr lvl="1"/>
            <a:r>
              <a:rPr lang="es-AR" dirty="0" smtClean="0"/>
              <a:t>continente(</a:t>
            </a:r>
            <a:r>
              <a:rPr lang="es-AR" dirty="0" err="1" smtClean="0"/>
              <a:t>brasil,america</a:t>
            </a:r>
            <a:r>
              <a:rPr lang="es-AR" dirty="0"/>
              <a:t>).</a:t>
            </a:r>
          </a:p>
          <a:p>
            <a:pPr lvl="1"/>
            <a:r>
              <a:rPr lang="es-AR" dirty="0"/>
              <a:t>continente(</a:t>
            </a:r>
            <a:r>
              <a:rPr lang="es-AR" dirty="0" err="1"/>
              <a:t>croacia,europa</a:t>
            </a:r>
            <a:r>
              <a:rPr lang="es-AR" dirty="0"/>
              <a:t>).</a:t>
            </a:r>
          </a:p>
          <a:p>
            <a:pPr lvl="1"/>
            <a:r>
              <a:rPr lang="es-AR" dirty="0"/>
              <a:t>continente(</a:t>
            </a:r>
            <a:r>
              <a:rPr lang="es-AR" dirty="0" err="1"/>
              <a:t>argentina,america</a:t>
            </a:r>
            <a:r>
              <a:rPr lang="es-AR" dirty="0"/>
              <a:t>).</a:t>
            </a:r>
          </a:p>
          <a:p>
            <a:pPr lvl="1"/>
            <a:r>
              <a:rPr lang="es-AR" dirty="0"/>
              <a:t>continente(</a:t>
            </a:r>
            <a:r>
              <a:rPr lang="es-AR" dirty="0" err="1"/>
              <a:t>costarica,america</a:t>
            </a:r>
            <a:r>
              <a:rPr lang="es-AR" dirty="0"/>
              <a:t>).</a:t>
            </a:r>
          </a:p>
          <a:p>
            <a:pPr lvl="1"/>
            <a:r>
              <a:rPr lang="es-AR" dirty="0"/>
              <a:t>continente(</a:t>
            </a:r>
            <a:r>
              <a:rPr lang="es-AR" dirty="0" err="1"/>
              <a:t>islandia,europa</a:t>
            </a:r>
            <a:r>
              <a:rPr lang="es-AR" dirty="0"/>
              <a:t>).</a:t>
            </a:r>
          </a:p>
          <a:p>
            <a:pPr lvl="1"/>
            <a:r>
              <a:rPr lang="es-AR" dirty="0"/>
              <a:t>continente(</a:t>
            </a:r>
            <a:r>
              <a:rPr lang="es-AR" dirty="0" err="1"/>
              <a:t>nigeria,africa</a:t>
            </a:r>
            <a:r>
              <a:rPr lang="es-AR" dirty="0"/>
              <a:t>).</a:t>
            </a:r>
          </a:p>
          <a:p>
            <a:pPr lvl="1"/>
            <a:r>
              <a:rPr lang="es-AR" dirty="0" smtClean="0"/>
              <a:t>descalificado(</a:t>
            </a:r>
            <a:r>
              <a:rPr lang="es-AR" dirty="0" err="1" smtClean="0"/>
              <a:t>brasil</a:t>
            </a:r>
            <a:r>
              <a:rPr lang="es-AR" dirty="0"/>
              <a:t>).</a:t>
            </a:r>
          </a:p>
          <a:p>
            <a:pPr lvl="1"/>
            <a:r>
              <a:rPr lang="es-AR" dirty="0"/>
              <a:t>descalificado(</a:t>
            </a:r>
            <a:r>
              <a:rPr lang="es-AR" dirty="0" err="1"/>
              <a:t>alemania</a:t>
            </a:r>
            <a:r>
              <a:rPr lang="es-AR" dirty="0"/>
              <a:t>).</a:t>
            </a:r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770819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42962</TotalTime>
  <Words>1621</Words>
  <Application>Microsoft Office PowerPoint</Application>
  <PresentationFormat>Presentación en pantalla (4:3)</PresentationFormat>
  <Paragraphs>348</Paragraphs>
  <Slides>27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28" baseType="lpstr">
      <vt:lpstr>Tema de Office</vt:lpstr>
      <vt:lpstr>Paradigmas de Programación</vt:lpstr>
      <vt:lpstr>Paradigmas de Programación</vt:lpstr>
      <vt:lpstr>Paradigmas de Programación</vt:lpstr>
      <vt:lpstr>Paradigmas de Programación</vt:lpstr>
      <vt:lpstr>Paradigmas de Programación</vt:lpstr>
      <vt:lpstr>Paradigmas de Programación</vt:lpstr>
      <vt:lpstr>Paradigmas de Programación Lógico</vt:lpstr>
      <vt:lpstr>Paradigmas de Programación Lógico</vt:lpstr>
      <vt:lpstr>Paradigmas de Programación Lógico</vt:lpstr>
      <vt:lpstr>Paradigmas de Programación</vt:lpstr>
      <vt:lpstr>Paradigmas de Programación</vt:lpstr>
      <vt:lpstr>Paradigmas de Programación</vt:lpstr>
      <vt:lpstr>Paradigmas de Programación</vt:lpstr>
      <vt:lpstr>Paradigmas de Programación</vt:lpstr>
      <vt:lpstr>Paradigmas de Programación</vt:lpstr>
      <vt:lpstr>Paradigmas de Programación Lógico</vt:lpstr>
      <vt:lpstr>Paradigmas de Programación</vt:lpstr>
      <vt:lpstr>Paradigmas de Programación</vt:lpstr>
      <vt:lpstr>Paradigmas de Programación Lógico</vt:lpstr>
      <vt:lpstr>Paradigmas de Programación Lógico</vt:lpstr>
      <vt:lpstr>Paradigmas de Programación Lógico</vt:lpstr>
      <vt:lpstr>Paradigmas de Programación Lógico</vt:lpstr>
      <vt:lpstr>Paradigmas de Programación Lógico</vt:lpstr>
      <vt:lpstr>Paradigmas de Programación Lógico</vt:lpstr>
      <vt:lpstr>Paradigmas de Programación Lógico</vt:lpstr>
      <vt:lpstr>Paradigmas de Programación Lógico</vt:lpstr>
      <vt:lpstr>Paradigmas de Programación Lógico</vt:lpstr>
    </vt:vector>
  </TitlesOfParts>
  <Company>ARG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Paradigmas de Programación</dc:title>
  <dc:creator>ARG</dc:creator>
  <cp:lastModifiedBy>ARG</cp:lastModifiedBy>
  <cp:revision>210</cp:revision>
  <dcterms:created xsi:type="dcterms:W3CDTF">2024-03-08T18:13:29Z</dcterms:created>
  <dcterms:modified xsi:type="dcterms:W3CDTF">2024-05-08T19:38:20Z</dcterms:modified>
</cp:coreProperties>
</file>
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1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82" r:id="rId25"/>
    <p:sldId id="283" r:id="rId26"/>
    <p:sldId id="279" r:id="rId27"/>
    <p:sldId id="284" r:id="rId28"/>
    <p:sldId id="285" r:id="rId29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14/03/2024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077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14/03/2024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333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14/03/2024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44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14/03/2024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726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14/03/2024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868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14/03/2024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124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14/03/2024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424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14/03/2024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034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14/03/2024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91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14/03/2024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436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14/03/2024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990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27246-92ED-4D73-BA48-5C6718EEC269}" type="datetimeFigureOut">
              <a:rPr lang="es-AR" smtClean="0"/>
              <a:t>14/03/2024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896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792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Que es un programa vs un paradigma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fontScale="92500" lnSpcReduction="20000"/>
          </a:bodyPr>
          <a:lstStyle/>
          <a:p>
            <a:r>
              <a:rPr lang="es-AR" dirty="0" smtClean="0"/>
              <a:t>Programa: Una secuencia de instrucciones que resuelve un problema (vista imperativo)</a:t>
            </a:r>
          </a:p>
          <a:p>
            <a:r>
              <a:rPr lang="es-AR" dirty="0" smtClean="0"/>
              <a:t>Programa: Como está organizado internamente?</a:t>
            </a:r>
          </a:p>
          <a:p>
            <a:pPr lvl="1"/>
            <a:r>
              <a:rPr lang="es-AR" dirty="0" smtClean="0"/>
              <a:t>Se resuelve de varias maneras</a:t>
            </a:r>
          </a:p>
          <a:p>
            <a:pPr lvl="1"/>
            <a:r>
              <a:rPr lang="es-AR" dirty="0" smtClean="0"/>
              <a:t>Restricciones</a:t>
            </a:r>
          </a:p>
          <a:p>
            <a:r>
              <a:rPr lang="es-AR" dirty="0" smtClean="0"/>
              <a:t>Paradigma (forma de entender/pensar el mundo)</a:t>
            </a:r>
          </a:p>
          <a:p>
            <a:pPr lvl="1"/>
            <a:r>
              <a:rPr lang="es-AR" dirty="0" smtClean="0"/>
              <a:t>Ir en auto (semáforos, licencia, </a:t>
            </a:r>
            <a:r>
              <a:rPr lang="es-AR" dirty="0" err="1" smtClean="0"/>
              <a:t>gmap</a:t>
            </a:r>
            <a:r>
              <a:rPr lang="es-AR" dirty="0" smtClean="0"/>
              <a:t>)</a:t>
            </a:r>
          </a:p>
          <a:p>
            <a:pPr lvl="1"/>
            <a:r>
              <a:rPr lang="es-AR" dirty="0" smtClean="0"/>
              <a:t>Ir en transporte público (sube, horarios, paradas)</a:t>
            </a:r>
          </a:p>
          <a:p>
            <a:r>
              <a:rPr lang="es-AR" dirty="0" smtClean="0"/>
              <a:t>Paradigma (serie de reglas, serie de convenciones)</a:t>
            </a:r>
          </a:p>
          <a:p>
            <a:pPr lvl="1"/>
            <a:r>
              <a:rPr lang="es-AR" dirty="0" smtClean="0"/>
              <a:t>Distintas formas de programar (</a:t>
            </a:r>
            <a:r>
              <a:rPr lang="es-AR" dirty="0"/>
              <a:t>i</a:t>
            </a:r>
            <a:r>
              <a:rPr lang="es-AR" dirty="0" smtClean="0"/>
              <a:t>nterpretar, entender unidades de código)</a:t>
            </a:r>
          </a:p>
        </p:txBody>
      </p:sp>
    </p:spTree>
    <p:extLst>
      <p:ext uri="{BB962C8B-B14F-4D97-AF65-F5344CB8AC3E}">
        <p14:creationId xmlns:p14="http://schemas.microsoft.com/office/powerpoint/2010/main" val="23983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Imperativo o Declarativo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Pizza</a:t>
            </a:r>
          </a:p>
          <a:p>
            <a:pPr lvl="1"/>
            <a:r>
              <a:rPr lang="es-AR" dirty="0" smtClean="0"/>
              <a:t>Imperativo (yo cocinando)</a:t>
            </a:r>
          </a:p>
          <a:p>
            <a:pPr lvl="2"/>
            <a:r>
              <a:rPr lang="es-AR" dirty="0" smtClean="0"/>
              <a:t>Paso a paso</a:t>
            </a:r>
          </a:p>
          <a:p>
            <a:pPr lvl="1"/>
            <a:r>
              <a:rPr lang="es-AR" dirty="0" smtClean="0"/>
              <a:t>Declarativo (yo comprando la pizza)</a:t>
            </a:r>
          </a:p>
          <a:p>
            <a:pPr lvl="2"/>
            <a:r>
              <a:rPr lang="es-AR" dirty="0" smtClean="0"/>
              <a:t>Se delega a otro. Solo debo especificar como la quiero.</a:t>
            </a:r>
          </a:p>
          <a:p>
            <a:pPr marL="0" indent="0">
              <a:buNone/>
            </a:pPr>
            <a:endParaRPr lang="es-AR" dirty="0" smtClean="0"/>
          </a:p>
          <a:p>
            <a:endParaRPr lang="es-AR" dirty="0" smtClean="0"/>
          </a:p>
          <a:p>
            <a:endParaRPr lang="es-AR" dirty="0" smtClean="0"/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6347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 smtClean="0"/>
              <a:t>Declaratividad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1609" y="1340768"/>
            <a:ext cx="8229600" cy="4896544"/>
          </a:xfrm>
        </p:spPr>
        <p:txBody>
          <a:bodyPr>
            <a:normAutofit/>
          </a:bodyPr>
          <a:lstStyle/>
          <a:p>
            <a:r>
              <a:rPr lang="es-AR" dirty="0" smtClean="0"/>
              <a:t>Viaje en auto vs colectivo</a:t>
            </a:r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r>
              <a:rPr lang="es-AR" dirty="0" smtClean="0"/>
              <a:t>Viaje en </a:t>
            </a:r>
            <a:r>
              <a:rPr lang="es-AR" dirty="0" err="1" smtClean="0"/>
              <a:t>remis</a:t>
            </a:r>
            <a:endParaRPr lang="es-AR" dirty="0" smtClean="0"/>
          </a:p>
          <a:p>
            <a:pPr lvl="1"/>
            <a:r>
              <a:rPr lang="es-AR" dirty="0" smtClean="0"/>
              <a:t>Solo indicar a donde se desea ir.</a:t>
            </a:r>
          </a:p>
          <a:p>
            <a:endParaRPr lang="es-A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44824"/>
            <a:ext cx="8017641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670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Análisis de un programa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04864"/>
          </a:xfrm>
        </p:spPr>
        <p:txBody>
          <a:bodyPr>
            <a:normAutofit/>
          </a:bodyPr>
          <a:lstStyle/>
          <a:p>
            <a:r>
              <a:rPr lang="es-AR" dirty="0" smtClean="0"/>
              <a:t>Que hace el programa?</a:t>
            </a:r>
          </a:p>
          <a:p>
            <a:r>
              <a:rPr lang="es-AR" dirty="0" smtClean="0"/>
              <a:t>Cual es el rol de cada variable?</a:t>
            </a:r>
          </a:p>
          <a:p>
            <a:r>
              <a:rPr lang="es-AR" dirty="0" smtClean="0"/>
              <a:t>Cuanto tiempo tomó darse cuenta que hace la función?</a:t>
            </a:r>
          </a:p>
          <a:p>
            <a:endParaRPr lang="es-A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501006"/>
            <a:ext cx="2952943" cy="2796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683568" y="4293096"/>
            <a:ext cx="37444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Invocar a la función:</a:t>
            </a:r>
          </a:p>
          <a:p>
            <a:pPr lvl="1"/>
            <a:r>
              <a:rPr lang="es-AR" dirty="0" err="1" smtClean="0"/>
              <a:t>int</a:t>
            </a:r>
            <a:r>
              <a:rPr lang="es-AR" dirty="0" smtClean="0"/>
              <a:t> arreglo[5] = {21, 10,8,15,3}</a:t>
            </a:r>
          </a:p>
          <a:p>
            <a:pPr lvl="1"/>
            <a:r>
              <a:rPr lang="es-AR" dirty="0" smtClean="0"/>
              <a:t>R=</a:t>
            </a:r>
            <a:r>
              <a:rPr lang="es-AR" dirty="0" err="1" smtClean="0"/>
              <a:t>hacealgo</a:t>
            </a:r>
            <a:r>
              <a:rPr lang="es-AR" dirty="0" smtClean="0"/>
              <a:t>(arreglo, 5);</a:t>
            </a:r>
          </a:p>
          <a:p>
            <a:pPr lvl="1"/>
            <a:endParaRPr lang="es-AR" dirty="0" smtClean="0"/>
          </a:p>
          <a:p>
            <a:r>
              <a:rPr lang="es-AR" dirty="0" smtClean="0"/>
              <a:t>R=2?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7690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Expresividad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Se mejora la lectura del código</a:t>
            </a:r>
            <a:endParaRPr lang="es-A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204864"/>
            <a:ext cx="4896544" cy="27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204864"/>
            <a:ext cx="2952943" cy="2796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649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248494" y="1556792"/>
            <a:ext cx="4248472" cy="1143000"/>
          </a:xfrm>
        </p:spPr>
        <p:txBody>
          <a:bodyPr/>
          <a:lstStyle/>
          <a:p>
            <a:r>
              <a:rPr lang="es-AR" dirty="0" smtClean="0"/>
              <a:t>Abstracción</a:t>
            </a:r>
            <a:endParaRPr lang="es-A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13" y="1053120"/>
            <a:ext cx="5468517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029" y="2924944"/>
            <a:ext cx="3669964" cy="1728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549" y="5013945"/>
            <a:ext cx="4752529" cy="1689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1 Título"/>
          <p:cNvSpPr txBox="1">
            <a:spLocks/>
          </p:cNvSpPr>
          <p:nvPr/>
        </p:nvSpPr>
        <p:spPr>
          <a:xfrm>
            <a:off x="323528" y="5157192"/>
            <a:ext cx="360700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 err="1" smtClean="0"/>
              <a:t>Declaratividad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0070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Imperativo a Declarativo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err="1" smtClean="0"/>
              <a:t>Tips</a:t>
            </a:r>
            <a:r>
              <a:rPr lang="es-AR" dirty="0" smtClean="0"/>
              <a:t> a tener en cuenta:</a:t>
            </a:r>
          </a:p>
          <a:p>
            <a:pPr lvl="1"/>
            <a:r>
              <a:rPr lang="es-AR" dirty="0" smtClean="0"/>
              <a:t>Orden de ejecución</a:t>
            </a:r>
          </a:p>
          <a:p>
            <a:pPr lvl="1"/>
            <a:r>
              <a:rPr lang="es-AR" dirty="0" smtClean="0"/>
              <a:t>Producir Efecto </a:t>
            </a:r>
          </a:p>
          <a:p>
            <a:pPr lvl="2"/>
            <a:r>
              <a:rPr lang="es-AR" dirty="0" smtClean="0"/>
              <a:t>(Mantener estado global)</a:t>
            </a:r>
          </a:p>
          <a:p>
            <a:pPr lvl="1"/>
            <a:r>
              <a:rPr lang="es-AR" dirty="0" smtClean="0"/>
              <a:t>Asignación destructiva </a:t>
            </a:r>
          </a:p>
          <a:p>
            <a:pPr lvl="2"/>
            <a:r>
              <a:rPr lang="es-AR" dirty="0" smtClean="0"/>
              <a:t>(Asignar una valor nuevo a una variable)</a:t>
            </a:r>
          </a:p>
          <a:p>
            <a:pPr lvl="2"/>
            <a:r>
              <a:rPr lang="es-AR" dirty="0" smtClean="0"/>
              <a:t>Sería una restricción</a:t>
            </a:r>
          </a:p>
          <a:p>
            <a:r>
              <a:rPr lang="es-AR" dirty="0" smtClean="0"/>
              <a:t>Cada paradigma da ciertas ventajas y tiene sus reglas – nueva forma de pensar.</a:t>
            </a:r>
          </a:p>
        </p:txBody>
      </p:sp>
    </p:spTree>
    <p:extLst>
      <p:ext uri="{BB962C8B-B14F-4D97-AF65-F5344CB8AC3E}">
        <p14:creationId xmlns:p14="http://schemas.microsoft.com/office/powerpoint/2010/main" val="7968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Lenguaje vs Paradigma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err="1" smtClean="0"/>
              <a:t>Haskell</a:t>
            </a:r>
            <a:endParaRPr lang="es-AR" dirty="0" smtClean="0"/>
          </a:p>
          <a:p>
            <a:pPr lvl="1"/>
            <a:r>
              <a:rPr lang="es-AR" dirty="0" smtClean="0"/>
              <a:t>Paradigma Funcional</a:t>
            </a:r>
          </a:p>
          <a:p>
            <a:r>
              <a:rPr lang="es-AR" dirty="0" err="1" smtClean="0"/>
              <a:t>Prolog</a:t>
            </a:r>
            <a:endParaRPr lang="es-AR" dirty="0" smtClean="0"/>
          </a:p>
          <a:p>
            <a:pPr lvl="1"/>
            <a:r>
              <a:rPr lang="es-AR" dirty="0" smtClean="0"/>
              <a:t>Paradigma Lógico</a:t>
            </a:r>
          </a:p>
          <a:p>
            <a:r>
              <a:rPr lang="es-AR" dirty="0" smtClean="0"/>
              <a:t>Java</a:t>
            </a:r>
          </a:p>
          <a:p>
            <a:pPr lvl="1"/>
            <a:r>
              <a:rPr lang="es-AR" dirty="0" smtClean="0"/>
              <a:t>Paradigma Orientada a Objeto</a:t>
            </a:r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302184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Muy similar al paradigma lógico</a:t>
            </a:r>
          </a:p>
          <a:p>
            <a:r>
              <a:rPr lang="es-AR" dirty="0" smtClean="0"/>
              <a:t>Distante del paradigma imperativo y OO</a:t>
            </a:r>
          </a:p>
          <a:p>
            <a:r>
              <a:rPr lang="es-AR" dirty="0" smtClean="0"/>
              <a:t>No existen Secuencias, Estructuras de control ni Variables.</a:t>
            </a:r>
          </a:p>
          <a:p>
            <a:r>
              <a:rPr lang="es-AR" dirty="0" smtClean="0"/>
              <a:t>No se modifica un estado global.</a:t>
            </a:r>
          </a:p>
          <a:p>
            <a:pPr lvl="1"/>
            <a:r>
              <a:rPr lang="es-AR" dirty="0" smtClean="0"/>
              <a:t>Variable como celda de memoria (NO)</a:t>
            </a:r>
          </a:p>
          <a:p>
            <a:r>
              <a:rPr lang="es-AR" dirty="0" smtClean="0"/>
              <a:t>Valores que entran y valores que salen</a:t>
            </a:r>
          </a:p>
          <a:p>
            <a:r>
              <a:rPr lang="es-AR" dirty="0" smtClean="0">
                <a:sym typeface="Wingdings" panose="05000000000000000000" pitchFamily="2" charset="2"/>
              </a:rPr>
              <a:t>No existe un proceso de recordar información</a:t>
            </a: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56717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AR" dirty="0" smtClean="0"/>
              <a:t>Similar a las funciones matemáticas</a:t>
            </a:r>
          </a:p>
          <a:p>
            <a:pPr lvl="1"/>
            <a:r>
              <a:rPr lang="es-AR" dirty="0" smtClean="0"/>
              <a:t>E  </a:t>
            </a:r>
            <a:r>
              <a:rPr lang="es-AR" dirty="0" smtClean="0">
                <a:sym typeface="Wingdings" panose="05000000000000000000" pitchFamily="2" charset="2"/>
              </a:rPr>
              <a:t>  F()    S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E1    S1</a:t>
            </a:r>
          </a:p>
          <a:p>
            <a:r>
              <a:rPr lang="es-AR" dirty="0" smtClean="0">
                <a:sym typeface="Wingdings" panose="05000000000000000000" pitchFamily="2" charset="2"/>
              </a:rPr>
              <a:t>Unicidad y Existencia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Existencia:  Para todo Ei  Hay una Si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Unicidad:    No hay Si y </a:t>
            </a:r>
            <a:r>
              <a:rPr lang="es-AR" dirty="0" err="1" smtClean="0">
                <a:sym typeface="Wingdings" panose="05000000000000000000" pitchFamily="2" charset="2"/>
              </a:rPr>
              <a:t>Sj</a:t>
            </a:r>
            <a:r>
              <a:rPr lang="es-AR" dirty="0" smtClean="0">
                <a:sym typeface="Wingdings" panose="05000000000000000000" pitchFamily="2" charset="2"/>
              </a:rPr>
              <a:t> para una Ei</a:t>
            </a:r>
          </a:p>
          <a:p>
            <a:pPr lvl="2"/>
            <a:r>
              <a:rPr lang="es-AR" dirty="0" smtClean="0">
                <a:sym typeface="Wingdings" panose="05000000000000000000" pitchFamily="2" charset="2"/>
              </a:rPr>
              <a:t>A diferencia del Paradigma Lógico que puede tener muchas imágenes de salida (respuestas alternativas).</a:t>
            </a:r>
          </a:p>
          <a:p>
            <a:r>
              <a:rPr lang="es-AR" dirty="0" smtClean="0">
                <a:sym typeface="Wingdings" panose="05000000000000000000" pitchFamily="2" charset="2"/>
              </a:rPr>
              <a:t>Ejemplo: Periodista puede generar un relato de un hecho real y otro periodista tiene un relato distinto.</a:t>
            </a:r>
          </a:p>
          <a:p>
            <a:endParaRPr lang="es-AR" dirty="0" smtClean="0">
              <a:sym typeface="Wingdings" panose="05000000000000000000" pitchFamily="2" charset="2"/>
            </a:endParaRPr>
          </a:p>
          <a:p>
            <a:pPr lvl="2"/>
            <a:endParaRPr lang="es-AR" dirty="0" smtClean="0">
              <a:sym typeface="Wingdings" panose="05000000000000000000" pitchFamily="2" charset="2"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3077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92500" lnSpcReduction="10000"/>
          </a:bodyPr>
          <a:lstStyle/>
          <a:p>
            <a:r>
              <a:rPr lang="es-AR" dirty="0" smtClean="0">
                <a:sym typeface="Wingdings" panose="05000000000000000000" pitchFamily="2" charset="2"/>
              </a:rPr>
              <a:t>Transparencia referencial: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La salida solo depende de la entrada. No hay otro elemento del que depende.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En objetos al enviar un mensaje la respuesta puede cambiar porque usar el estado interno del objeto para dar la respuesta.</a:t>
            </a:r>
          </a:p>
          <a:p>
            <a:r>
              <a:rPr lang="es-AR" dirty="0" smtClean="0"/>
              <a:t>Transparencia referencial </a:t>
            </a:r>
            <a:r>
              <a:rPr lang="es-AR" dirty="0" smtClean="0">
                <a:sym typeface="Wingdings" panose="05000000000000000000" pitchFamily="2" charset="2"/>
              </a:rPr>
              <a:t> Principio de sustitución.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X+Y   y si X vale 2 entonces se puede sustituir 2+Y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Siempre la función devuelve lo mismo  se puede reemplazar la función por la imagen.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8838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 Funcional - Representación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Diagrama de </a:t>
            </a:r>
            <a:r>
              <a:rPr lang="es-AR" dirty="0" err="1" smtClean="0"/>
              <a:t>Venn</a:t>
            </a:r>
            <a:r>
              <a:rPr lang="es-AR" dirty="0" smtClean="0"/>
              <a:t> (Conjuntos)</a:t>
            </a:r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 smtClean="0"/>
          </a:p>
          <a:p>
            <a:r>
              <a:rPr lang="es-AR" dirty="0" smtClean="0"/>
              <a:t>Eje cartesiano</a:t>
            </a:r>
          </a:p>
          <a:p>
            <a:pPr lvl="1"/>
            <a:endParaRPr lang="es-AR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204864"/>
            <a:ext cx="5769818" cy="2359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600162"/>
            <a:ext cx="401002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282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es-AR" dirty="0" smtClean="0">
                <a:sym typeface="Wingdings" panose="05000000000000000000" pitchFamily="2" charset="2"/>
              </a:rPr>
              <a:t>Transparencia referencial:</a:t>
            </a:r>
          </a:p>
          <a:p>
            <a:pPr lvl="1"/>
            <a:r>
              <a:rPr lang="es-AR" dirty="0" smtClean="0"/>
              <a:t>Independientes</a:t>
            </a:r>
          </a:p>
          <a:p>
            <a:pPr lvl="2"/>
            <a:r>
              <a:rPr lang="es-AR" dirty="0" smtClean="0"/>
              <a:t>Solo depende de los parámetros</a:t>
            </a:r>
          </a:p>
          <a:p>
            <a:pPr lvl="1"/>
            <a:r>
              <a:rPr lang="es-AR" dirty="0" smtClean="0"/>
              <a:t>Determinísticas</a:t>
            </a:r>
          </a:p>
          <a:p>
            <a:pPr lvl="2"/>
            <a:r>
              <a:rPr lang="es-AR" dirty="0" smtClean="0"/>
              <a:t>Siempre da el mismo resultado ante los mismos datos</a:t>
            </a:r>
          </a:p>
          <a:p>
            <a:pPr lvl="1"/>
            <a:r>
              <a:rPr lang="es-AR" dirty="0" smtClean="0"/>
              <a:t>Sin Efecto</a:t>
            </a:r>
          </a:p>
          <a:p>
            <a:pPr lvl="2"/>
            <a:r>
              <a:rPr lang="es-AR" dirty="0" smtClean="0"/>
              <a:t>No modifica el ambiente</a:t>
            </a:r>
            <a:endParaRPr lang="es-AR" dirty="0"/>
          </a:p>
          <a:p>
            <a:r>
              <a:rPr lang="es-AR" dirty="0" smtClean="0"/>
              <a:t>Contraejemplo en C</a:t>
            </a:r>
          </a:p>
          <a:p>
            <a:r>
              <a:rPr lang="es-AR" dirty="0" smtClean="0"/>
              <a:t>= no es asignación</a:t>
            </a:r>
          </a:p>
          <a:p>
            <a:pPr lvl="1"/>
            <a:endParaRPr lang="es-AR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162196"/>
            <a:ext cx="3391302" cy="2690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50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Uso de interface STACK – para 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AR" dirty="0" smtClean="0"/>
              <a:t>STACK</a:t>
            </a:r>
          </a:p>
          <a:p>
            <a:pPr lvl="1"/>
            <a:r>
              <a:rPr lang="es-AR" dirty="0" smtClean="0"/>
              <a:t>Ver como instalar </a:t>
            </a:r>
            <a:r>
              <a:rPr lang="es-AR" dirty="0" err="1" smtClean="0"/>
              <a:t>stack</a:t>
            </a:r>
            <a:r>
              <a:rPr lang="es-AR" dirty="0" smtClean="0"/>
              <a:t> </a:t>
            </a:r>
          </a:p>
          <a:p>
            <a:pPr lvl="1"/>
            <a:r>
              <a:rPr lang="es-AR" dirty="0" smtClean="0"/>
              <a:t>Es un entorno para automatizar tareas</a:t>
            </a:r>
          </a:p>
          <a:p>
            <a:pPr lvl="1"/>
            <a:r>
              <a:rPr lang="es-AR" dirty="0" smtClean="0"/>
              <a:t>Se tiene </a:t>
            </a:r>
            <a:r>
              <a:rPr lang="es-AR" dirty="0" err="1" smtClean="0"/>
              <a:t>pdepreludat.hsfiles</a:t>
            </a:r>
            <a:endParaRPr lang="es-AR" dirty="0" smtClean="0"/>
          </a:p>
          <a:p>
            <a:pPr lvl="2"/>
            <a:r>
              <a:rPr lang="es-AR" dirty="0" smtClean="0"/>
              <a:t>Es una modificación de </a:t>
            </a:r>
            <a:r>
              <a:rPr lang="es-AR" dirty="0" err="1" smtClean="0"/>
              <a:t>preludat.hsfiles</a:t>
            </a:r>
            <a:r>
              <a:rPr lang="es-AR" dirty="0" smtClean="0"/>
              <a:t>, para hacer mas sencillo el uso de </a:t>
            </a:r>
            <a:r>
              <a:rPr lang="es-AR" dirty="0" err="1" smtClean="0"/>
              <a:t>haskell</a:t>
            </a:r>
            <a:r>
              <a:rPr lang="es-AR" dirty="0" smtClean="0"/>
              <a:t> que puede ser muy </a:t>
            </a:r>
            <a:r>
              <a:rPr lang="es-AR" dirty="0" err="1" smtClean="0"/>
              <a:t>aspero</a:t>
            </a:r>
            <a:r>
              <a:rPr lang="es-AR" dirty="0" smtClean="0"/>
              <a:t>.</a:t>
            </a:r>
          </a:p>
          <a:p>
            <a:pPr lvl="1"/>
            <a:r>
              <a:rPr lang="es-AR" dirty="0" smtClean="0"/>
              <a:t>Comando para crear el ambiente de desarrollo</a:t>
            </a:r>
          </a:p>
          <a:p>
            <a:pPr lvl="2"/>
            <a:r>
              <a:rPr lang="es-AR" sz="2000" dirty="0" err="1"/>
              <a:t>s</a:t>
            </a:r>
            <a:r>
              <a:rPr lang="es-AR" sz="2000" dirty="0" err="1" smtClean="0"/>
              <a:t>tack</a:t>
            </a:r>
            <a:r>
              <a:rPr lang="es-AR" sz="2000" dirty="0" smtClean="0"/>
              <a:t> new proyecto-test https://github.com/10Pines/pdepreludat/releases/download/2.0.2/pdepreludat.hsfiles</a:t>
            </a:r>
          </a:p>
          <a:p>
            <a:pPr lvl="2"/>
            <a:r>
              <a:rPr lang="es-AR" sz="2000" dirty="0" smtClean="0"/>
              <a:t>cd proyecto-test; </a:t>
            </a:r>
            <a:r>
              <a:rPr lang="es-AR" sz="2000" dirty="0" err="1" smtClean="0"/>
              <a:t>stack</a:t>
            </a:r>
            <a:r>
              <a:rPr lang="es-AR" sz="2000" dirty="0" smtClean="0"/>
              <a:t> </a:t>
            </a:r>
            <a:r>
              <a:rPr lang="es-AR" sz="2000" dirty="0" err="1" smtClean="0"/>
              <a:t>build</a:t>
            </a:r>
            <a:r>
              <a:rPr lang="es-AR" sz="2000" dirty="0" smtClean="0"/>
              <a:t> –test</a:t>
            </a:r>
          </a:p>
          <a:p>
            <a:pPr lvl="1"/>
            <a:r>
              <a:rPr lang="es-AR" dirty="0" smtClean="0"/>
              <a:t>Comando para levantar el VSC</a:t>
            </a:r>
          </a:p>
          <a:p>
            <a:pPr lvl="2"/>
            <a:r>
              <a:rPr lang="es-AR" b="1" dirty="0" err="1"/>
              <a:t>c</a:t>
            </a:r>
            <a:r>
              <a:rPr lang="es-AR" b="1" dirty="0" err="1" smtClean="0"/>
              <a:t>ode</a:t>
            </a:r>
            <a:r>
              <a:rPr lang="es-AR" b="1" dirty="0" smtClean="0"/>
              <a:t> .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93098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Uso de interface STACK – para 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AR" dirty="0" err="1" smtClean="0"/>
              <a:t>VisualStudioCode</a:t>
            </a:r>
            <a:r>
              <a:rPr lang="es-AR" dirty="0" smtClean="0"/>
              <a:t> </a:t>
            </a:r>
          </a:p>
          <a:p>
            <a:pPr lvl="1"/>
            <a:r>
              <a:rPr lang="es-AR" dirty="0" smtClean="0"/>
              <a:t>Es un entorno de desarrollo - gráfico</a:t>
            </a:r>
          </a:p>
          <a:p>
            <a:pPr lvl="1"/>
            <a:r>
              <a:rPr lang="es-AR" dirty="0" smtClean="0"/>
              <a:t>Comando para levantar el VSC ubicados dentro de la carpeta del proyecto</a:t>
            </a:r>
          </a:p>
          <a:p>
            <a:pPr lvl="2"/>
            <a:r>
              <a:rPr lang="es-AR" b="1" dirty="0" err="1"/>
              <a:t>c</a:t>
            </a:r>
            <a:r>
              <a:rPr lang="es-AR" b="1" dirty="0" err="1" smtClean="0"/>
              <a:t>ode</a:t>
            </a:r>
            <a:r>
              <a:rPr lang="es-AR" b="1" dirty="0" smtClean="0"/>
              <a:t> .</a:t>
            </a:r>
          </a:p>
          <a:p>
            <a:pPr lvl="1"/>
            <a:r>
              <a:rPr lang="es-AR" dirty="0"/>
              <a:t>Archivos relevantes:</a:t>
            </a:r>
          </a:p>
          <a:p>
            <a:pPr lvl="2"/>
            <a:r>
              <a:rPr lang="es-AR" b="1" dirty="0" err="1"/>
              <a:t>l</a:t>
            </a:r>
            <a:r>
              <a:rPr lang="es-AR" b="1" dirty="0" err="1" smtClean="0"/>
              <a:t>ibrary.hs</a:t>
            </a:r>
            <a:r>
              <a:rPr lang="es-AR" b="1" dirty="0" smtClean="0"/>
              <a:t>, </a:t>
            </a:r>
            <a:r>
              <a:rPr lang="es-AR" b="1" dirty="0" err="1" smtClean="0"/>
              <a:t>spec.hs</a:t>
            </a:r>
            <a:r>
              <a:rPr lang="es-AR" b="1" dirty="0" smtClean="0"/>
              <a:t> y </a:t>
            </a:r>
            <a:r>
              <a:rPr lang="es-AR" b="1" dirty="0" err="1" smtClean="0"/>
              <a:t>readme</a:t>
            </a:r>
            <a:endParaRPr lang="es-AR" b="1" dirty="0" smtClean="0"/>
          </a:p>
          <a:p>
            <a:pPr lvl="1"/>
            <a:r>
              <a:rPr lang="es-AR" dirty="0" smtClean="0"/>
              <a:t>En </a:t>
            </a:r>
            <a:r>
              <a:rPr lang="es-AR" dirty="0" err="1" smtClean="0"/>
              <a:t>library.hs</a:t>
            </a:r>
            <a:r>
              <a:rPr lang="es-AR" dirty="0" smtClean="0"/>
              <a:t> se declara una función DOBLE y en </a:t>
            </a:r>
            <a:r>
              <a:rPr lang="es-AR" dirty="0" err="1" smtClean="0"/>
              <a:t>spec.hs</a:t>
            </a:r>
            <a:r>
              <a:rPr lang="es-AR" dirty="0" smtClean="0"/>
              <a:t> se verifica que 2 sea el DOBLE de 1 usando el </a:t>
            </a:r>
            <a:r>
              <a:rPr lang="es-AR" dirty="0" err="1" smtClean="0"/>
              <a:t>framework</a:t>
            </a:r>
            <a:r>
              <a:rPr lang="es-AR" dirty="0" smtClean="0"/>
              <a:t> </a:t>
            </a:r>
            <a:r>
              <a:rPr lang="es-AR" dirty="0" err="1" smtClean="0"/>
              <a:t>hspec</a:t>
            </a:r>
            <a:r>
              <a:rPr lang="es-AR" dirty="0" smtClean="0"/>
              <a:t>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0483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Uso de interface STACK – para 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781128"/>
          </a:xfrm>
        </p:spPr>
        <p:txBody>
          <a:bodyPr>
            <a:normAutofit fontScale="77500" lnSpcReduction="20000"/>
          </a:bodyPr>
          <a:lstStyle/>
          <a:p>
            <a:r>
              <a:rPr lang="es-AR" dirty="0" smtClean="0"/>
              <a:t>VSC y HASKELL </a:t>
            </a:r>
          </a:p>
          <a:p>
            <a:pPr lvl="1"/>
            <a:r>
              <a:rPr lang="es-AR" dirty="0" smtClean="0"/>
              <a:t>VSC usa extensiones (ver @</a:t>
            </a:r>
            <a:r>
              <a:rPr lang="es-AR" dirty="0" err="1" smtClean="0"/>
              <a:t>install</a:t>
            </a:r>
            <a:r>
              <a:rPr lang="es-AR" dirty="0" smtClean="0"/>
              <a:t>)</a:t>
            </a:r>
          </a:p>
          <a:p>
            <a:pPr lvl="1"/>
            <a:r>
              <a:rPr lang="es-AR" dirty="0" smtClean="0"/>
              <a:t>Extensión Simple GHC y </a:t>
            </a:r>
            <a:r>
              <a:rPr lang="es-AR" dirty="0" err="1" smtClean="0"/>
              <a:t>Haskell</a:t>
            </a:r>
            <a:r>
              <a:rPr lang="es-AR" dirty="0" smtClean="0"/>
              <a:t> </a:t>
            </a:r>
            <a:r>
              <a:rPr lang="es-AR" dirty="0" err="1" smtClean="0"/>
              <a:t>Syntax</a:t>
            </a:r>
            <a:r>
              <a:rPr lang="es-AR" dirty="0" smtClean="0"/>
              <a:t> </a:t>
            </a:r>
            <a:r>
              <a:rPr lang="es-AR" dirty="0" err="1" smtClean="0"/>
              <a:t>Highlighting</a:t>
            </a:r>
            <a:endParaRPr lang="es-AR" dirty="0" smtClean="0"/>
          </a:p>
          <a:p>
            <a:pPr lvl="1"/>
            <a:r>
              <a:rPr lang="es-AR" dirty="0" smtClean="0"/>
              <a:t>Extensión </a:t>
            </a:r>
            <a:r>
              <a:rPr lang="es-AR" dirty="0" err="1" smtClean="0"/>
              <a:t>Haskutil</a:t>
            </a:r>
            <a:r>
              <a:rPr lang="es-AR" dirty="0" smtClean="0"/>
              <a:t> (para importar otras funciones)</a:t>
            </a:r>
          </a:p>
          <a:p>
            <a:pPr lvl="2"/>
            <a:r>
              <a:rPr lang="es-AR" dirty="0" smtClean="0"/>
              <a:t>Sin buscar en que biblioteca se encuentra la función.</a:t>
            </a:r>
          </a:p>
          <a:p>
            <a:r>
              <a:rPr lang="es-AR" dirty="0" smtClean="0"/>
              <a:t>Primeras funciones</a:t>
            </a:r>
          </a:p>
          <a:p>
            <a:pPr lvl="1"/>
            <a:r>
              <a:rPr lang="es-AR" dirty="0" smtClean="0"/>
              <a:t>Dentro de </a:t>
            </a:r>
            <a:r>
              <a:rPr lang="es-AR" dirty="0" err="1" smtClean="0"/>
              <a:t>Library.hs</a:t>
            </a:r>
            <a:endParaRPr lang="es-AR" dirty="0" smtClean="0"/>
          </a:p>
          <a:p>
            <a:pPr lvl="2"/>
            <a:r>
              <a:rPr lang="es-AR" dirty="0" smtClean="0"/>
              <a:t>F :: </a:t>
            </a:r>
            <a:r>
              <a:rPr lang="es-AR" dirty="0" err="1" smtClean="0"/>
              <a:t>Number</a:t>
            </a:r>
            <a:r>
              <a:rPr lang="es-AR" dirty="0" smtClean="0"/>
              <a:t> -&gt; </a:t>
            </a:r>
            <a:r>
              <a:rPr lang="es-AR" dirty="0" err="1" smtClean="0"/>
              <a:t>Bool</a:t>
            </a:r>
            <a:endParaRPr lang="es-AR" dirty="0" smtClean="0"/>
          </a:p>
          <a:p>
            <a:pPr lvl="2"/>
            <a:r>
              <a:rPr lang="es-AR" dirty="0" smtClean="0"/>
              <a:t>F “3” = True</a:t>
            </a:r>
          </a:p>
          <a:p>
            <a:pPr lvl="2"/>
            <a:r>
              <a:rPr lang="es-AR" dirty="0" smtClean="0"/>
              <a:t>F _ = False         {De cualquier cosa}</a:t>
            </a:r>
          </a:p>
          <a:p>
            <a:pPr lvl="1"/>
            <a:r>
              <a:rPr lang="es-AR" dirty="0" smtClean="0"/>
              <a:t>Marcar un error en forma interactiva en lugar de guardar y compilar solo con guardar</a:t>
            </a:r>
          </a:p>
          <a:p>
            <a:pPr lvl="1"/>
            <a:r>
              <a:rPr lang="es-AR" dirty="0" smtClean="0"/>
              <a:t>Por eso va a marcar la segunda línea un error sin salir del entorno de desarrollo y si se selecciona el archivo </a:t>
            </a:r>
            <a:r>
              <a:rPr lang="es-AR" dirty="0" err="1" smtClean="0"/>
              <a:t>library</a:t>
            </a:r>
            <a:r>
              <a:rPr lang="es-AR" dirty="0" smtClean="0"/>
              <a:t> aparece un panel nuevo con los errores.</a:t>
            </a:r>
          </a:p>
          <a:p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286894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Uso de interface STACK – para 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781128"/>
          </a:xfrm>
        </p:spPr>
        <p:txBody>
          <a:bodyPr>
            <a:normAutofit fontScale="92500" lnSpcReduction="20000"/>
          </a:bodyPr>
          <a:lstStyle/>
          <a:p>
            <a:r>
              <a:rPr lang="es-AR" dirty="0" smtClean="0"/>
              <a:t>Entorno</a:t>
            </a:r>
          </a:p>
          <a:p>
            <a:pPr lvl="1"/>
            <a:r>
              <a:rPr lang="es-AR" dirty="0" smtClean="0"/>
              <a:t>Se tiene paneles donde se ven los errores,  una terminal entre otros.</a:t>
            </a:r>
          </a:p>
          <a:p>
            <a:pPr lvl="1"/>
            <a:r>
              <a:rPr lang="es-AR" dirty="0" smtClean="0"/>
              <a:t>Seleccionando la terminal se puede acceder a un </a:t>
            </a:r>
            <a:r>
              <a:rPr lang="es-AR" dirty="0" err="1" smtClean="0"/>
              <a:t>shell</a:t>
            </a:r>
            <a:r>
              <a:rPr lang="es-AR" dirty="0" smtClean="0"/>
              <a:t> donde se ejecutan comandos</a:t>
            </a:r>
          </a:p>
          <a:p>
            <a:pPr lvl="2"/>
            <a:r>
              <a:rPr lang="es-AR" dirty="0" smtClean="0"/>
              <a:t>Un comando que permite testear el programa (ejecutar)</a:t>
            </a:r>
          </a:p>
          <a:p>
            <a:pPr lvl="3"/>
            <a:r>
              <a:rPr lang="es-AR" dirty="0" err="1"/>
              <a:t>s</a:t>
            </a:r>
            <a:r>
              <a:rPr lang="es-AR" dirty="0" err="1" smtClean="0"/>
              <a:t>tack</a:t>
            </a:r>
            <a:r>
              <a:rPr lang="es-AR" dirty="0" smtClean="0"/>
              <a:t> </a:t>
            </a:r>
            <a:r>
              <a:rPr lang="es-AR" dirty="0" err="1" smtClean="0"/>
              <a:t>ghci</a:t>
            </a:r>
            <a:endParaRPr lang="es-AR" dirty="0" smtClean="0"/>
          </a:p>
          <a:p>
            <a:pPr lvl="2"/>
            <a:r>
              <a:rPr lang="es-AR" dirty="0" smtClean="0"/>
              <a:t>Dentro del </a:t>
            </a:r>
            <a:r>
              <a:rPr lang="es-AR" dirty="0" err="1" smtClean="0"/>
              <a:t>ghci</a:t>
            </a:r>
            <a:r>
              <a:rPr lang="es-AR" dirty="0" smtClean="0"/>
              <a:t>, se puede testear el programa invocando:</a:t>
            </a:r>
          </a:p>
          <a:p>
            <a:pPr lvl="3"/>
            <a:r>
              <a:rPr lang="es-AR" dirty="0" smtClean="0"/>
              <a:t>F 3         (por ejemplo)</a:t>
            </a:r>
          </a:p>
          <a:p>
            <a:pPr lvl="2"/>
            <a:r>
              <a:rPr lang="es-AR" dirty="0" smtClean="0"/>
              <a:t>Si se modifica el programa se debe recargar desde la terminal usando</a:t>
            </a:r>
          </a:p>
          <a:p>
            <a:pPr lvl="3"/>
            <a:r>
              <a:rPr lang="es-AR" dirty="0" smtClean="0"/>
              <a:t>:r</a:t>
            </a:r>
          </a:p>
          <a:p>
            <a:pPr lvl="2"/>
            <a:r>
              <a:rPr lang="es-AR" dirty="0" smtClean="0"/>
              <a:t>Para salir de la consola</a:t>
            </a:r>
          </a:p>
          <a:p>
            <a:pPr lvl="3"/>
            <a:r>
              <a:rPr lang="es-AR" dirty="0" smtClean="0"/>
              <a:t>:q</a:t>
            </a:r>
          </a:p>
          <a:p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28482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Uso de interface 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781128"/>
          </a:xfrm>
        </p:spPr>
        <p:txBody>
          <a:bodyPr>
            <a:normAutofit fontScale="92500" lnSpcReduction="20000"/>
          </a:bodyPr>
          <a:lstStyle/>
          <a:p>
            <a:r>
              <a:rPr lang="es-AR" dirty="0" err="1" smtClean="0"/>
              <a:t>Haskell</a:t>
            </a:r>
            <a:r>
              <a:rPr lang="es-AR" dirty="0" smtClean="0"/>
              <a:t> Interpretado</a:t>
            </a:r>
          </a:p>
          <a:p>
            <a:pPr lvl="1"/>
            <a:r>
              <a:rPr lang="es-AR" dirty="0" err="1"/>
              <a:t>g</a:t>
            </a:r>
            <a:r>
              <a:rPr lang="es-AR" dirty="0" err="1" smtClean="0"/>
              <a:t>hci</a:t>
            </a:r>
            <a:r>
              <a:rPr lang="es-AR" dirty="0" smtClean="0"/>
              <a:t>   desde </a:t>
            </a:r>
            <a:r>
              <a:rPr lang="es-AR" dirty="0" err="1" smtClean="0"/>
              <a:t>linea</a:t>
            </a:r>
            <a:r>
              <a:rPr lang="es-AR" dirty="0" smtClean="0"/>
              <a:t> de comando</a:t>
            </a:r>
          </a:p>
          <a:p>
            <a:pPr lvl="2"/>
            <a:r>
              <a:rPr lang="es-AR" dirty="0" smtClean="0"/>
              <a:t>3+4		(operador infijo)</a:t>
            </a:r>
          </a:p>
          <a:p>
            <a:pPr lvl="2"/>
            <a:r>
              <a:rPr lang="es-AR" dirty="0" smtClean="0"/>
              <a:t>3*4</a:t>
            </a:r>
          </a:p>
          <a:p>
            <a:pPr lvl="2"/>
            <a:r>
              <a:rPr lang="es-AR" dirty="0" err="1"/>
              <a:t>e</a:t>
            </a:r>
            <a:r>
              <a:rPr lang="es-AR" dirty="0" err="1" smtClean="0"/>
              <a:t>ven</a:t>
            </a:r>
            <a:r>
              <a:rPr lang="es-AR" dirty="0" smtClean="0"/>
              <a:t> 5</a:t>
            </a:r>
          </a:p>
          <a:p>
            <a:pPr lvl="2"/>
            <a:r>
              <a:rPr lang="es-AR" dirty="0"/>
              <a:t>d</a:t>
            </a:r>
            <a:r>
              <a:rPr lang="es-AR" dirty="0" smtClean="0"/>
              <a:t>iv 5 2</a:t>
            </a:r>
          </a:p>
          <a:p>
            <a:pPr lvl="1"/>
            <a:r>
              <a:rPr lang="es-AR" dirty="0" smtClean="0"/>
              <a:t>Para definir funciones propias se genera un archivo </a:t>
            </a:r>
            <a:r>
              <a:rPr lang="es-AR" dirty="0" err="1" smtClean="0"/>
              <a:t>XX.hs</a:t>
            </a:r>
            <a:endParaRPr lang="es-AR" dirty="0" smtClean="0"/>
          </a:p>
          <a:p>
            <a:pPr lvl="2"/>
            <a:r>
              <a:rPr lang="es-AR" dirty="0" err="1"/>
              <a:t>e</a:t>
            </a:r>
            <a:r>
              <a:rPr lang="es-AR" dirty="0" err="1" smtClean="0"/>
              <a:t>sPar</a:t>
            </a:r>
            <a:r>
              <a:rPr lang="es-AR" dirty="0" smtClean="0"/>
              <a:t> = </a:t>
            </a:r>
            <a:r>
              <a:rPr lang="es-AR" dirty="0" err="1" smtClean="0"/>
              <a:t>even</a:t>
            </a:r>
            <a:r>
              <a:rPr lang="es-AR" dirty="0" smtClean="0"/>
              <a:t>	       (es una igualdad matemática no asigna)</a:t>
            </a:r>
          </a:p>
          <a:p>
            <a:pPr lvl="2"/>
            <a:r>
              <a:rPr lang="es-AR" dirty="0" err="1" smtClean="0"/>
              <a:t>Cuadruple</a:t>
            </a:r>
            <a:r>
              <a:rPr lang="es-AR" dirty="0" smtClean="0"/>
              <a:t> </a:t>
            </a:r>
            <a:r>
              <a:rPr lang="es-AR" dirty="0" err="1" smtClean="0"/>
              <a:t>nro</a:t>
            </a:r>
            <a:r>
              <a:rPr lang="es-AR" dirty="0" smtClean="0"/>
              <a:t> = 4 * </a:t>
            </a:r>
            <a:r>
              <a:rPr lang="es-AR" dirty="0" err="1" smtClean="0"/>
              <a:t>nro</a:t>
            </a:r>
            <a:endParaRPr lang="es-AR" dirty="0" smtClean="0"/>
          </a:p>
          <a:p>
            <a:pPr lvl="1"/>
            <a:r>
              <a:rPr lang="es-AR" dirty="0" smtClean="0"/>
              <a:t>Se carga </a:t>
            </a:r>
            <a:r>
              <a:rPr lang="es-AR" dirty="0" err="1" smtClean="0"/>
              <a:t>XX.hs</a:t>
            </a:r>
            <a:r>
              <a:rPr lang="es-AR" dirty="0" smtClean="0"/>
              <a:t> y prueba el programa usando</a:t>
            </a:r>
          </a:p>
          <a:p>
            <a:pPr lvl="2"/>
            <a:r>
              <a:rPr lang="es-AR" dirty="0" smtClean="0"/>
              <a:t>:load </a:t>
            </a:r>
            <a:r>
              <a:rPr lang="es-AR" dirty="0" err="1" smtClean="0"/>
              <a:t>XX.hs</a:t>
            </a:r>
            <a:endParaRPr lang="es-AR" dirty="0" smtClean="0"/>
          </a:p>
          <a:p>
            <a:pPr lvl="2"/>
            <a:r>
              <a:rPr lang="es-AR" dirty="0" err="1" smtClean="0"/>
              <a:t>esPar</a:t>
            </a:r>
            <a:r>
              <a:rPr lang="es-AR" dirty="0" smtClean="0"/>
              <a:t> 4</a:t>
            </a:r>
          </a:p>
          <a:p>
            <a:pPr lvl="2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245782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Modelar Maderera - Composición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AR" dirty="0" smtClean="0"/>
              <a:t>Crear </a:t>
            </a:r>
            <a:r>
              <a:rPr lang="es-AR" dirty="0" err="1" smtClean="0"/>
              <a:t>maderera.hs</a:t>
            </a:r>
            <a:r>
              <a:rPr lang="es-AR" dirty="0" smtClean="0"/>
              <a:t> </a:t>
            </a:r>
          </a:p>
          <a:p>
            <a:pPr lvl="1"/>
            <a:r>
              <a:rPr lang="es-AR" dirty="0" smtClean="0"/>
              <a:t>Dentro crear las funciones</a:t>
            </a:r>
          </a:p>
          <a:p>
            <a:pPr lvl="2"/>
            <a:r>
              <a:rPr lang="es-AR" dirty="0" err="1" smtClean="0"/>
              <a:t>Cuadruple</a:t>
            </a:r>
            <a:r>
              <a:rPr lang="es-AR" dirty="0" smtClean="0"/>
              <a:t> </a:t>
            </a:r>
            <a:r>
              <a:rPr lang="es-AR" dirty="0" err="1" smtClean="0"/>
              <a:t>nro</a:t>
            </a:r>
            <a:r>
              <a:rPr lang="es-AR" dirty="0" smtClean="0"/>
              <a:t> = 4 * </a:t>
            </a:r>
            <a:r>
              <a:rPr lang="es-AR" dirty="0" err="1" smtClean="0"/>
              <a:t>nro</a:t>
            </a:r>
            <a:endParaRPr lang="es-AR" dirty="0" smtClean="0"/>
          </a:p>
          <a:p>
            <a:pPr lvl="2"/>
            <a:r>
              <a:rPr lang="es-AR" dirty="0" err="1" smtClean="0"/>
              <a:t>largoDeListon</a:t>
            </a:r>
            <a:r>
              <a:rPr lang="es-AR" dirty="0" smtClean="0"/>
              <a:t> = 300</a:t>
            </a:r>
          </a:p>
          <a:p>
            <a:pPr lvl="2"/>
            <a:r>
              <a:rPr lang="es-AR" dirty="0" err="1" smtClean="0"/>
              <a:t>maderaCuadro</a:t>
            </a:r>
            <a:r>
              <a:rPr lang="es-AR" dirty="0" smtClean="0"/>
              <a:t> = </a:t>
            </a:r>
            <a:r>
              <a:rPr lang="es-AR" dirty="0" err="1" smtClean="0"/>
              <a:t>cuadruple</a:t>
            </a:r>
            <a:endParaRPr lang="es-AR" dirty="0" smtClean="0"/>
          </a:p>
          <a:p>
            <a:pPr lvl="2"/>
            <a:r>
              <a:rPr lang="es-AR" dirty="0" err="1" smtClean="0"/>
              <a:t>Mealcanza</a:t>
            </a:r>
            <a:r>
              <a:rPr lang="es-AR" dirty="0" smtClean="0"/>
              <a:t> largo = largo &lt;= </a:t>
            </a:r>
            <a:r>
              <a:rPr lang="es-AR" dirty="0" err="1" smtClean="0"/>
              <a:t>largoDeListon</a:t>
            </a:r>
            <a:endParaRPr lang="es-AR" dirty="0" smtClean="0"/>
          </a:p>
          <a:p>
            <a:pPr lvl="1"/>
            <a:r>
              <a:rPr lang="es-AR" dirty="0" smtClean="0"/>
              <a:t>Otra Función Compuesta</a:t>
            </a:r>
          </a:p>
          <a:p>
            <a:pPr lvl="2"/>
            <a:r>
              <a:rPr lang="es-AR" dirty="0" err="1" smtClean="0"/>
              <a:t>PuedohacerCuadroDe</a:t>
            </a:r>
            <a:r>
              <a:rPr lang="es-AR" dirty="0" smtClean="0"/>
              <a:t> lado = </a:t>
            </a:r>
            <a:r>
              <a:rPr lang="es-AR" dirty="0" err="1" smtClean="0"/>
              <a:t>Mealcanza</a:t>
            </a:r>
            <a:r>
              <a:rPr lang="es-AR" dirty="0" smtClean="0"/>
              <a:t> (</a:t>
            </a:r>
            <a:r>
              <a:rPr lang="es-AR" dirty="0" err="1" smtClean="0"/>
              <a:t>maderaCuadro</a:t>
            </a:r>
            <a:r>
              <a:rPr lang="es-AR" dirty="0" smtClean="0"/>
              <a:t>  lado)</a:t>
            </a:r>
          </a:p>
          <a:p>
            <a:pPr lvl="2"/>
            <a:r>
              <a:rPr lang="es-AR" dirty="0" err="1" smtClean="0"/>
              <a:t>PuedohacerCuadroDe</a:t>
            </a:r>
            <a:r>
              <a:rPr lang="es-AR" dirty="0" smtClean="0"/>
              <a:t> lado = </a:t>
            </a:r>
            <a:r>
              <a:rPr lang="es-AR" dirty="0" err="1" smtClean="0"/>
              <a:t>Mealcanza.maderaCuadro</a:t>
            </a:r>
            <a:endParaRPr lang="es-AR" dirty="0" smtClean="0"/>
          </a:p>
          <a:p>
            <a:pPr lvl="2"/>
            <a:endParaRPr lang="es-AR" dirty="0"/>
          </a:p>
        </p:txBody>
      </p:sp>
      <p:sp>
        <p:nvSpPr>
          <p:cNvPr id="4" name="3 CuadroTexto"/>
          <p:cNvSpPr txBox="1"/>
          <p:nvPr/>
        </p:nvSpPr>
        <p:spPr>
          <a:xfrm>
            <a:off x="7308304" y="4293096"/>
            <a:ext cx="1404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Nota:</a:t>
            </a:r>
          </a:p>
          <a:p>
            <a:r>
              <a:rPr lang="es-AR" dirty="0" smtClean="0"/>
              <a:t>F = G o H</a:t>
            </a:r>
          </a:p>
          <a:p>
            <a:r>
              <a:rPr lang="es-AR" dirty="0" smtClean="0"/>
              <a:t>F = G.H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9846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Modelar Maderera - Ejercicio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85000" lnSpcReduction="20000"/>
          </a:bodyPr>
          <a:lstStyle/>
          <a:p>
            <a:r>
              <a:rPr lang="es-AR" dirty="0" smtClean="0"/>
              <a:t>Que porcentaje de listón sobraría para armar un cuadro de tamaño 50 de lado.</a:t>
            </a:r>
          </a:p>
          <a:p>
            <a:pPr lvl="1"/>
            <a:r>
              <a:rPr lang="es-AR" dirty="0" err="1" smtClean="0"/>
              <a:t>MaderaCuadro</a:t>
            </a:r>
            <a:r>
              <a:rPr lang="es-AR" dirty="0" smtClean="0"/>
              <a:t> 50 </a:t>
            </a:r>
            <a:r>
              <a:rPr lang="es-AR" dirty="0" smtClean="0">
                <a:sym typeface="Wingdings" panose="05000000000000000000" pitchFamily="2" charset="2"/>
              </a:rPr>
              <a:t>200</a:t>
            </a:r>
          </a:p>
          <a:p>
            <a:pPr lvl="1"/>
            <a:r>
              <a:rPr lang="es-AR" dirty="0" err="1" smtClean="0">
                <a:sym typeface="Wingdings" panose="05000000000000000000" pitchFamily="2" charset="2"/>
              </a:rPr>
              <a:t>Cuantomesobra</a:t>
            </a:r>
            <a:r>
              <a:rPr lang="es-AR" dirty="0" smtClean="0">
                <a:sym typeface="Wingdings" panose="05000000000000000000" pitchFamily="2" charset="2"/>
              </a:rPr>
              <a:t> 200 -&gt; 100</a:t>
            </a:r>
          </a:p>
          <a:p>
            <a:pPr lvl="1"/>
            <a:r>
              <a:rPr lang="es-AR" dirty="0" err="1" smtClean="0">
                <a:sym typeface="Wingdings" panose="05000000000000000000" pitchFamily="2" charset="2"/>
              </a:rPr>
              <a:t>Queporcentaje</a:t>
            </a:r>
            <a:r>
              <a:rPr lang="es-AR" dirty="0" smtClean="0">
                <a:sym typeface="Wingdings" panose="05000000000000000000" pitchFamily="2" charset="2"/>
              </a:rPr>
              <a:t> 100 -&gt; 100/300</a:t>
            </a:r>
            <a:endParaRPr lang="es-AR" dirty="0" smtClean="0"/>
          </a:p>
          <a:p>
            <a:r>
              <a:rPr lang="es-AR" dirty="0" smtClean="0"/>
              <a:t>Archivo </a:t>
            </a:r>
            <a:r>
              <a:rPr lang="es-AR" dirty="0" err="1" smtClean="0"/>
              <a:t>maderera.hs</a:t>
            </a:r>
            <a:r>
              <a:rPr lang="es-AR" dirty="0" smtClean="0"/>
              <a:t> </a:t>
            </a:r>
          </a:p>
          <a:p>
            <a:pPr lvl="1"/>
            <a:r>
              <a:rPr lang="es-AR" dirty="0" smtClean="0"/>
              <a:t>Dentro crear las funciones</a:t>
            </a:r>
          </a:p>
          <a:p>
            <a:pPr lvl="2"/>
            <a:r>
              <a:rPr lang="es-AR" dirty="0" err="1" smtClean="0"/>
              <a:t>Cuadruple</a:t>
            </a:r>
            <a:r>
              <a:rPr lang="es-AR" dirty="0" smtClean="0"/>
              <a:t> </a:t>
            </a:r>
            <a:r>
              <a:rPr lang="es-AR" dirty="0" err="1" smtClean="0"/>
              <a:t>nro</a:t>
            </a:r>
            <a:r>
              <a:rPr lang="es-AR" dirty="0" smtClean="0"/>
              <a:t> = 4 * </a:t>
            </a:r>
            <a:r>
              <a:rPr lang="es-AR" dirty="0" err="1" smtClean="0"/>
              <a:t>nro</a:t>
            </a:r>
            <a:endParaRPr lang="es-AR" dirty="0" smtClean="0"/>
          </a:p>
          <a:p>
            <a:pPr lvl="2"/>
            <a:r>
              <a:rPr lang="es-AR" dirty="0" err="1" smtClean="0"/>
              <a:t>largoDeListon</a:t>
            </a:r>
            <a:r>
              <a:rPr lang="es-AR" dirty="0" smtClean="0"/>
              <a:t> = 300</a:t>
            </a:r>
          </a:p>
          <a:p>
            <a:pPr lvl="2"/>
            <a:r>
              <a:rPr lang="es-AR" dirty="0" err="1" smtClean="0"/>
              <a:t>maderaCuadro</a:t>
            </a:r>
            <a:r>
              <a:rPr lang="es-AR" dirty="0" smtClean="0"/>
              <a:t> = </a:t>
            </a:r>
            <a:r>
              <a:rPr lang="es-AR" dirty="0" err="1" smtClean="0"/>
              <a:t>cuadruple</a:t>
            </a:r>
            <a:endParaRPr lang="es-AR" dirty="0" smtClean="0"/>
          </a:p>
          <a:p>
            <a:pPr lvl="2"/>
            <a:r>
              <a:rPr lang="es-AR" dirty="0" err="1" smtClean="0"/>
              <a:t>Mealcanza</a:t>
            </a:r>
            <a:r>
              <a:rPr lang="es-AR" dirty="0" smtClean="0"/>
              <a:t> largo = largo &lt;= </a:t>
            </a:r>
            <a:r>
              <a:rPr lang="es-AR" dirty="0" err="1" smtClean="0"/>
              <a:t>largoDeListon</a:t>
            </a:r>
            <a:endParaRPr lang="es-AR" dirty="0" smtClean="0"/>
          </a:p>
          <a:p>
            <a:pPr lvl="2"/>
            <a:r>
              <a:rPr lang="es-AR" dirty="0" err="1" smtClean="0"/>
              <a:t>Queporcentaje.CuantoMeSobra.maderaCuadro</a:t>
            </a:r>
            <a:endParaRPr lang="es-AR" dirty="0" smtClean="0"/>
          </a:p>
          <a:p>
            <a:pPr lvl="2"/>
            <a:r>
              <a:rPr lang="es-AR" dirty="0" err="1" smtClean="0"/>
              <a:t>CuantoMesobra</a:t>
            </a:r>
            <a:r>
              <a:rPr lang="es-AR" dirty="0" smtClean="0"/>
              <a:t> cantidad = </a:t>
            </a:r>
            <a:r>
              <a:rPr lang="es-AR" dirty="0" err="1" smtClean="0"/>
              <a:t>largoDeListon</a:t>
            </a:r>
            <a:r>
              <a:rPr lang="es-AR" dirty="0" smtClean="0"/>
              <a:t> – cantidad</a:t>
            </a:r>
          </a:p>
          <a:p>
            <a:pPr lvl="2"/>
            <a:r>
              <a:rPr lang="es-AR" dirty="0" err="1" smtClean="0"/>
              <a:t>Queporcentaje</a:t>
            </a:r>
            <a:r>
              <a:rPr lang="es-AR" dirty="0" smtClean="0"/>
              <a:t> cantidad = cantidad / </a:t>
            </a:r>
            <a:r>
              <a:rPr lang="es-AR" dirty="0" err="1" smtClean="0"/>
              <a:t>largoDeListon</a:t>
            </a:r>
            <a:r>
              <a:rPr lang="es-AR" dirty="0" smtClean="0"/>
              <a:t> * 100 </a:t>
            </a:r>
            <a:r>
              <a:rPr lang="es-AR" dirty="0" smtClean="0">
                <a:solidFill>
                  <a:schemeClr val="bg1"/>
                </a:solidFill>
              </a:rPr>
              <a:t>100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7308304" y="4293096"/>
            <a:ext cx="1404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Nota:</a:t>
            </a:r>
          </a:p>
          <a:p>
            <a:r>
              <a:rPr lang="es-AR" dirty="0" smtClean="0"/>
              <a:t>F = G o H</a:t>
            </a:r>
          </a:p>
          <a:p>
            <a:r>
              <a:rPr lang="es-AR" dirty="0" smtClean="0"/>
              <a:t>F = G.H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16125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77500" lnSpcReduction="20000"/>
          </a:bodyPr>
          <a:lstStyle/>
          <a:p>
            <a:r>
              <a:rPr lang="es-AR" dirty="0" smtClean="0"/>
              <a:t>Valores: siempre tienen un tipo asociado:</a:t>
            </a:r>
          </a:p>
          <a:p>
            <a:pPr lvl="1"/>
            <a:r>
              <a:rPr lang="es-AR" dirty="0"/>
              <a:t>Valores </a:t>
            </a:r>
            <a:r>
              <a:rPr lang="es-AR" dirty="0" smtClean="0"/>
              <a:t>primitivos (Son grupos de elementos)</a:t>
            </a:r>
          </a:p>
          <a:p>
            <a:pPr lvl="2"/>
            <a:r>
              <a:rPr lang="es-AR" dirty="0" err="1" smtClean="0"/>
              <a:t>Number</a:t>
            </a:r>
            <a:r>
              <a:rPr lang="es-AR" dirty="0" smtClean="0"/>
              <a:t>	4.5 4 800.99</a:t>
            </a:r>
          </a:p>
          <a:p>
            <a:pPr lvl="2"/>
            <a:r>
              <a:rPr lang="es-AR" dirty="0" err="1" smtClean="0"/>
              <a:t>String</a:t>
            </a:r>
            <a:r>
              <a:rPr lang="es-AR" dirty="0" smtClean="0"/>
              <a:t>		“Hola” “#</a:t>
            </a:r>
            <a:r>
              <a:rPr lang="es-AR" dirty="0" err="1" smtClean="0"/>
              <a:t>plp</a:t>
            </a:r>
            <a:r>
              <a:rPr lang="es-AR" dirty="0" smtClean="0"/>
              <a:t>”</a:t>
            </a:r>
          </a:p>
          <a:p>
            <a:pPr lvl="2"/>
            <a:r>
              <a:rPr lang="es-AR" dirty="0" err="1" smtClean="0"/>
              <a:t>Bool</a:t>
            </a:r>
            <a:r>
              <a:rPr lang="es-AR" dirty="0" smtClean="0"/>
              <a:t>		True  False</a:t>
            </a:r>
          </a:p>
          <a:p>
            <a:pPr lvl="2"/>
            <a:r>
              <a:rPr lang="es-AR" dirty="0" err="1" smtClean="0"/>
              <a:t>Char</a:t>
            </a:r>
            <a:r>
              <a:rPr lang="es-AR" dirty="0" smtClean="0"/>
              <a:t>		‘a’ ‘b’</a:t>
            </a:r>
          </a:p>
          <a:p>
            <a:pPr lvl="1"/>
            <a:r>
              <a:rPr lang="es-AR" dirty="0" err="1" smtClean="0"/>
              <a:t>Number</a:t>
            </a:r>
            <a:r>
              <a:rPr lang="es-AR" dirty="0" smtClean="0"/>
              <a:t> puede se </a:t>
            </a:r>
            <a:r>
              <a:rPr lang="es-AR" dirty="0" err="1" smtClean="0"/>
              <a:t>Int</a:t>
            </a:r>
            <a:r>
              <a:rPr lang="es-AR" dirty="0" smtClean="0"/>
              <a:t>, </a:t>
            </a:r>
            <a:r>
              <a:rPr lang="es-AR" dirty="0" err="1" smtClean="0"/>
              <a:t>Float</a:t>
            </a:r>
            <a:r>
              <a:rPr lang="es-AR" dirty="0" smtClean="0"/>
              <a:t>, </a:t>
            </a:r>
            <a:r>
              <a:rPr lang="es-AR" dirty="0" err="1" smtClean="0"/>
              <a:t>Double</a:t>
            </a:r>
            <a:endParaRPr lang="es-AR" dirty="0" smtClean="0"/>
          </a:p>
          <a:p>
            <a:pPr lvl="2"/>
            <a:r>
              <a:rPr lang="es-AR" dirty="0" smtClean="0"/>
              <a:t>:t “hola”  </a:t>
            </a:r>
            <a:r>
              <a:rPr lang="es-AR" dirty="0" smtClean="0">
                <a:sym typeface="Wingdings" panose="05000000000000000000" pitchFamily="2" charset="2"/>
              </a:rPr>
              <a:t> [</a:t>
            </a:r>
            <a:r>
              <a:rPr lang="es-AR" dirty="0" err="1" smtClean="0">
                <a:sym typeface="Wingdings" panose="05000000000000000000" pitchFamily="2" charset="2"/>
              </a:rPr>
              <a:t>Char</a:t>
            </a:r>
            <a:r>
              <a:rPr lang="es-AR" dirty="0" smtClean="0">
                <a:sym typeface="Wingdings" panose="05000000000000000000" pitchFamily="2" charset="2"/>
              </a:rPr>
              <a:t>]  que es un </a:t>
            </a:r>
            <a:r>
              <a:rPr lang="es-AR" dirty="0" err="1" smtClean="0">
                <a:sym typeface="Wingdings" panose="05000000000000000000" pitchFamily="2" charset="2"/>
              </a:rPr>
              <a:t>String</a:t>
            </a:r>
            <a:endParaRPr lang="es-AR" dirty="0" smtClean="0">
              <a:sym typeface="Wingdings" panose="05000000000000000000" pitchFamily="2" charset="2"/>
            </a:endParaRPr>
          </a:p>
          <a:p>
            <a:r>
              <a:rPr lang="es-AR" dirty="0" smtClean="0"/>
              <a:t>Funciones:</a:t>
            </a:r>
          </a:p>
          <a:p>
            <a:pPr lvl="1"/>
            <a:r>
              <a:rPr lang="es-AR" dirty="0" smtClean="0"/>
              <a:t>Transforman un valor en otro valor (dominio-&gt; imagen)</a:t>
            </a:r>
          </a:p>
          <a:p>
            <a:pPr lvl="2"/>
            <a:r>
              <a:rPr lang="es-AR" dirty="0" err="1" smtClean="0"/>
              <a:t>Length</a:t>
            </a:r>
            <a:endParaRPr lang="es-AR" dirty="0" smtClean="0"/>
          </a:p>
          <a:p>
            <a:pPr lvl="2"/>
            <a:r>
              <a:rPr lang="es-AR" dirty="0" smtClean="0"/>
              <a:t>(+)</a:t>
            </a:r>
          </a:p>
          <a:p>
            <a:pPr lvl="2"/>
            <a:r>
              <a:rPr lang="es-AR" dirty="0" err="1" smtClean="0"/>
              <a:t>Not</a:t>
            </a:r>
            <a:endParaRPr lang="es-AR" dirty="0" smtClean="0"/>
          </a:p>
          <a:p>
            <a:pPr lvl="2"/>
            <a:r>
              <a:rPr lang="es-AR" dirty="0" err="1" smtClean="0"/>
              <a:t>Negate</a:t>
            </a:r>
            <a:endParaRPr lang="es-AR" dirty="0" smtClean="0"/>
          </a:p>
          <a:p>
            <a:pPr lvl="1"/>
            <a:r>
              <a:rPr lang="es-AR" dirty="0" err="1" smtClean="0"/>
              <a:t>Length</a:t>
            </a:r>
            <a:r>
              <a:rPr lang="es-AR" dirty="0" smtClean="0"/>
              <a:t> :: </a:t>
            </a:r>
            <a:r>
              <a:rPr lang="es-AR" dirty="0" err="1" smtClean="0"/>
              <a:t>String</a:t>
            </a:r>
            <a:r>
              <a:rPr lang="es-AR" dirty="0" smtClean="0"/>
              <a:t> </a:t>
            </a:r>
            <a:r>
              <a:rPr lang="es-AR" dirty="0" smtClean="0">
                <a:sym typeface="Wingdings" panose="05000000000000000000" pitchFamily="2" charset="2"/>
              </a:rPr>
              <a:t>-&gt; </a:t>
            </a:r>
            <a:r>
              <a:rPr lang="es-AR" dirty="0" err="1" smtClean="0">
                <a:sym typeface="Wingdings" panose="05000000000000000000" pitchFamily="2" charset="2"/>
              </a:rPr>
              <a:t>Number</a:t>
            </a:r>
            <a:endParaRPr lang="es-AR" dirty="0">
              <a:sym typeface="Wingdings" panose="05000000000000000000" pitchFamily="2" charset="2"/>
            </a:endParaRPr>
          </a:p>
          <a:p>
            <a:pPr lvl="1"/>
            <a:endParaRPr lang="es-AR" dirty="0"/>
          </a:p>
          <a:p>
            <a:pPr marL="0" indent="0">
              <a:buNone/>
            </a:pP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35323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77500" lnSpcReduction="20000"/>
          </a:bodyPr>
          <a:lstStyle/>
          <a:p>
            <a:r>
              <a:rPr lang="es-AR" dirty="0" smtClean="0"/>
              <a:t>Ejemplo en </a:t>
            </a:r>
            <a:r>
              <a:rPr lang="es-AR" dirty="0" err="1" smtClean="0"/>
              <a:t>Haskell</a:t>
            </a:r>
            <a:endParaRPr lang="es-AR" dirty="0" smtClean="0"/>
          </a:p>
          <a:p>
            <a:pPr lvl="1"/>
            <a:r>
              <a:rPr lang="es-AR" dirty="0" smtClean="0"/>
              <a:t>Convención</a:t>
            </a:r>
          </a:p>
          <a:p>
            <a:pPr lvl="2"/>
            <a:r>
              <a:rPr lang="es-AR" dirty="0" smtClean="0"/>
              <a:t>Doble :: </a:t>
            </a:r>
            <a:r>
              <a:rPr lang="es-AR" dirty="0" err="1" smtClean="0"/>
              <a:t>Number</a:t>
            </a:r>
            <a:r>
              <a:rPr lang="es-AR" dirty="0" smtClean="0"/>
              <a:t> -&gt; </a:t>
            </a:r>
            <a:r>
              <a:rPr lang="es-AR" dirty="0" err="1" smtClean="0"/>
              <a:t>Number</a:t>
            </a:r>
            <a:endParaRPr lang="es-AR" dirty="0" smtClean="0"/>
          </a:p>
          <a:p>
            <a:pPr lvl="2"/>
            <a:r>
              <a:rPr lang="es-AR" dirty="0" smtClean="0"/>
              <a:t>Doble  </a:t>
            </a:r>
            <a:r>
              <a:rPr lang="es-AR" dirty="0" err="1" smtClean="0"/>
              <a:t>unnumero</a:t>
            </a:r>
            <a:r>
              <a:rPr lang="es-AR" dirty="0" smtClean="0"/>
              <a:t>  = </a:t>
            </a:r>
            <a:r>
              <a:rPr lang="es-AR" dirty="0" err="1" smtClean="0"/>
              <a:t>unnumero</a:t>
            </a:r>
            <a:r>
              <a:rPr lang="es-AR" dirty="0"/>
              <a:t> </a:t>
            </a:r>
            <a:r>
              <a:rPr lang="es-AR" dirty="0" smtClean="0"/>
              <a:t>* 2</a:t>
            </a:r>
          </a:p>
          <a:p>
            <a:pPr lvl="1"/>
            <a:r>
              <a:rPr lang="es-AR" dirty="0" smtClean="0"/>
              <a:t>Ejemplo</a:t>
            </a:r>
          </a:p>
          <a:p>
            <a:pPr lvl="2"/>
            <a:r>
              <a:rPr lang="es-AR" dirty="0" err="1" smtClean="0"/>
              <a:t>Div</a:t>
            </a:r>
            <a:r>
              <a:rPr lang="es-AR" dirty="0" smtClean="0"/>
              <a:t> </a:t>
            </a:r>
            <a:r>
              <a:rPr lang="es-AR" dirty="0" err="1" smtClean="0"/>
              <a:t>Number</a:t>
            </a:r>
            <a:r>
              <a:rPr lang="es-AR" dirty="0" smtClean="0"/>
              <a:t> </a:t>
            </a:r>
            <a:r>
              <a:rPr lang="es-AR" dirty="0" err="1" smtClean="0"/>
              <a:t>Number</a:t>
            </a:r>
            <a:r>
              <a:rPr lang="es-AR" dirty="0" smtClean="0"/>
              <a:t> -&gt; </a:t>
            </a:r>
            <a:r>
              <a:rPr lang="es-AR" dirty="0" err="1" smtClean="0"/>
              <a:t>Number</a:t>
            </a:r>
            <a:endParaRPr lang="es-AR" dirty="0" smtClean="0"/>
          </a:p>
          <a:p>
            <a:r>
              <a:rPr lang="es-AR" dirty="0" smtClean="0"/>
              <a:t>Plantillas:</a:t>
            </a:r>
          </a:p>
          <a:p>
            <a:pPr lvl="1"/>
            <a:r>
              <a:rPr lang="es-AR" dirty="0" err="1" smtClean="0"/>
              <a:t>Conveción</a:t>
            </a:r>
            <a:r>
              <a:rPr lang="es-AR" dirty="0" smtClean="0"/>
              <a:t>		</a:t>
            </a:r>
            <a:r>
              <a:rPr lang="es-AR" dirty="0" err="1" smtClean="0"/>
              <a:t>esPar</a:t>
            </a:r>
            <a:r>
              <a:rPr lang="es-AR" dirty="0" smtClean="0"/>
              <a:t> :: </a:t>
            </a:r>
            <a:r>
              <a:rPr lang="es-AR" dirty="0" err="1" smtClean="0"/>
              <a:t>Number</a:t>
            </a:r>
            <a:r>
              <a:rPr lang="es-AR" dirty="0" smtClean="0"/>
              <a:t> -&gt; </a:t>
            </a:r>
            <a:r>
              <a:rPr lang="es-AR" dirty="0" err="1" smtClean="0"/>
              <a:t>Bool</a:t>
            </a:r>
            <a:endParaRPr lang="es-AR" dirty="0" smtClean="0"/>
          </a:p>
          <a:p>
            <a:pPr lvl="1"/>
            <a:r>
              <a:rPr lang="es-AR" dirty="0" smtClean="0"/>
              <a:t>De otra función		</a:t>
            </a:r>
            <a:r>
              <a:rPr lang="es-AR" dirty="0" err="1" smtClean="0"/>
              <a:t>esPar</a:t>
            </a:r>
            <a:r>
              <a:rPr lang="es-AR" dirty="0" smtClean="0"/>
              <a:t> = </a:t>
            </a:r>
            <a:r>
              <a:rPr lang="es-AR" dirty="0" err="1" smtClean="0"/>
              <a:t>even</a:t>
            </a:r>
            <a:endParaRPr lang="es-AR" dirty="0" smtClean="0"/>
          </a:p>
          <a:p>
            <a:pPr lvl="1"/>
            <a:r>
              <a:rPr lang="es-AR" dirty="0" smtClean="0"/>
              <a:t>Con un parámetro	</a:t>
            </a:r>
            <a:r>
              <a:rPr lang="es-AR" dirty="0" err="1" smtClean="0"/>
              <a:t>esPar</a:t>
            </a:r>
            <a:r>
              <a:rPr lang="es-AR" dirty="0" smtClean="0"/>
              <a:t>  </a:t>
            </a:r>
            <a:r>
              <a:rPr lang="es-AR" dirty="0" err="1" smtClean="0"/>
              <a:t>nro</a:t>
            </a:r>
            <a:r>
              <a:rPr lang="es-AR" dirty="0" smtClean="0"/>
              <a:t> = </a:t>
            </a:r>
            <a:r>
              <a:rPr lang="es-AR" b="1" dirty="0" err="1" smtClean="0">
                <a:solidFill>
                  <a:srgbClr val="FF0000"/>
                </a:solidFill>
              </a:rPr>
              <a:t>nro</a:t>
            </a:r>
            <a:r>
              <a:rPr lang="es-AR" b="1" dirty="0" smtClean="0">
                <a:solidFill>
                  <a:srgbClr val="FF0000"/>
                </a:solidFill>
              </a:rPr>
              <a:t> % 2 == 0</a:t>
            </a:r>
          </a:p>
          <a:p>
            <a:pPr lvl="1"/>
            <a:r>
              <a:rPr lang="es-AR" dirty="0" smtClean="0"/>
              <a:t>Con parámetros		</a:t>
            </a:r>
            <a:r>
              <a:rPr lang="es-AR" b="1" dirty="0" err="1" smtClean="0"/>
              <a:t>esDiv</a:t>
            </a:r>
            <a:r>
              <a:rPr lang="es-AR" dirty="0" smtClean="0"/>
              <a:t> :: </a:t>
            </a:r>
            <a:r>
              <a:rPr lang="es-AR" dirty="0" err="1" smtClean="0"/>
              <a:t>Number</a:t>
            </a:r>
            <a:r>
              <a:rPr lang="es-AR" dirty="0" smtClean="0"/>
              <a:t> -&gt; </a:t>
            </a:r>
            <a:r>
              <a:rPr lang="es-AR" dirty="0" err="1" smtClean="0"/>
              <a:t>Number</a:t>
            </a:r>
            <a:r>
              <a:rPr lang="es-AR" dirty="0" smtClean="0"/>
              <a:t> -&gt; </a:t>
            </a:r>
            <a:r>
              <a:rPr lang="es-AR" dirty="0" err="1" smtClean="0"/>
              <a:t>Bool</a:t>
            </a:r>
            <a:endParaRPr lang="es-AR" dirty="0" smtClean="0"/>
          </a:p>
          <a:p>
            <a:pPr lvl="1"/>
            <a:r>
              <a:rPr lang="es-AR" dirty="0"/>
              <a:t> </a:t>
            </a:r>
            <a:r>
              <a:rPr lang="es-AR" dirty="0" smtClean="0"/>
              <a:t>	    </a:t>
            </a:r>
            <a:r>
              <a:rPr lang="es-AR" b="1" dirty="0" err="1" smtClean="0"/>
              <a:t>EsDiv</a:t>
            </a:r>
            <a:r>
              <a:rPr lang="es-AR" dirty="0" smtClean="0"/>
              <a:t> </a:t>
            </a:r>
            <a:r>
              <a:rPr lang="es-AR" i="1" dirty="0" smtClean="0"/>
              <a:t>divisor dividendo  </a:t>
            </a:r>
            <a:r>
              <a:rPr lang="es-AR" dirty="0" smtClean="0"/>
              <a:t>=  </a:t>
            </a:r>
            <a:r>
              <a:rPr lang="es-AR" b="1" dirty="0" smtClean="0">
                <a:solidFill>
                  <a:srgbClr val="FF0000"/>
                </a:solidFill>
              </a:rPr>
              <a:t>divisor % dividendo == 0</a:t>
            </a:r>
          </a:p>
          <a:p>
            <a:r>
              <a:rPr lang="es-AR" dirty="0" smtClean="0"/>
              <a:t>Uso:</a:t>
            </a:r>
          </a:p>
          <a:p>
            <a:pPr lvl="1"/>
            <a:r>
              <a:rPr lang="es-AR" dirty="0" err="1" smtClean="0"/>
              <a:t>EsPar</a:t>
            </a:r>
            <a:r>
              <a:rPr lang="es-AR" dirty="0" smtClean="0"/>
              <a:t> 4</a:t>
            </a:r>
          </a:p>
          <a:p>
            <a:pPr lvl="1"/>
            <a:r>
              <a:rPr lang="es-AR" dirty="0" smtClean="0"/>
              <a:t>3+4     o   (+) 3 4</a:t>
            </a:r>
          </a:p>
        </p:txBody>
      </p:sp>
    </p:spTree>
    <p:extLst>
      <p:ext uri="{BB962C8B-B14F-4D97-AF65-F5344CB8AC3E}">
        <p14:creationId xmlns:p14="http://schemas.microsoft.com/office/powerpoint/2010/main" val="312832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 lnSpcReduction="20000"/>
          </a:bodyPr>
          <a:lstStyle/>
          <a:p>
            <a:r>
              <a:rPr lang="es-AR" dirty="0" smtClean="0"/>
              <a:t>Cuando los tipos no concuerdan</a:t>
            </a:r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r>
              <a:rPr lang="es-AR" dirty="0" smtClean="0"/>
              <a:t>Que es una expresión</a:t>
            </a:r>
          </a:p>
          <a:p>
            <a:pPr lvl="1"/>
            <a:r>
              <a:rPr lang="es-AR" dirty="0" smtClean="0"/>
              <a:t>4  		   -- Valor  	   -- </a:t>
            </a:r>
            <a:r>
              <a:rPr lang="es-AR" dirty="0" err="1" smtClean="0"/>
              <a:t>Int</a:t>
            </a:r>
            <a:endParaRPr lang="es-AR" dirty="0" smtClean="0"/>
          </a:p>
          <a:p>
            <a:pPr lvl="1"/>
            <a:r>
              <a:rPr lang="es-AR" dirty="0" smtClean="0"/>
              <a:t>Longitud	   -- Valor	   -- </a:t>
            </a:r>
            <a:r>
              <a:rPr lang="es-AR" dirty="0" err="1" smtClean="0"/>
              <a:t>String</a:t>
            </a:r>
            <a:r>
              <a:rPr lang="es-AR" dirty="0" smtClean="0"/>
              <a:t> -&gt; </a:t>
            </a:r>
            <a:r>
              <a:rPr lang="es-AR" dirty="0" err="1" smtClean="0"/>
              <a:t>Int</a:t>
            </a:r>
            <a:endParaRPr lang="es-AR" dirty="0" smtClean="0"/>
          </a:p>
          <a:p>
            <a:pPr lvl="1"/>
            <a:r>
              <a:rPr lang="es-AR" dirty="0" smtClean="0"/>
              <a:t>Longitud “Hola” -- Aplicación  -- </a:t>
            </a:r>
            <a:r>
              <a:rPr lang="es-AR" dirty="0" err="1" smtClean="0"/>
              <a:t>Int</a:t>
            </a:r>
            <a:r>
              <a:rPr lang="es-AR" dirty="0" smtClean="0"/>
              <a:t> (4)</a:t>
            </a:r>
          </a:p>
          <a:p>
            <a:r>
              <a:rPr lang="es-AR" dirty="0" smtClean="0"/>
              <a:t>Nota: Las expresiones se pueden reducir.</a:t>
            </a:r>
            <a:endParaRPr lang="es-A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935" y="2060848"/>
            <a:ext cx="5140418" cy="202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443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20000"/>
          </a:bodyPr>
          <a:lstStyle/>
          <a:p>
            <a:r>
              <a:rPr lang="es-AR" dirty="0" smtClean="0"/>
              <a:t>Ejercicios en </a:t>
            </a:r>
            <a:r>
              <a:rPr lang="es-AR" dirty="0" err="1" smtClean="0"/>
              <a:t>Haskell</a:t>
            </a:r>
            <a:endParaRPr lang="es-AR" dirty="0" smtClean="0"/>
          </a:p>
          <a:p>
            <a:pPr lvl="1"/>
            <a:r>
              <a:rPr lang="es-AR" dirty="0" smtClean="0"/>
              <a:t>Definir la función </a:t>
            </a:r>
            <a:r>
              <a:rPr lang="es-AR" dirty="0" err="1" smtClean="0"/>
              <a:t>esMayorDeEdad</a:t>
            </a:r>
            <a:r>
              <a:rPr lang="es-AR" dirty="0" smtClean="0"/>
              <a:t> (edad&gt;=18)</a:t>
            </a:r>
          </a:p>
          <a:p>
            <a:pPr lvl="1"/>
            <a:r>
              <a:rPr lang="es-AR" dirty="0"/>
              <a:t>Definir la función </a:t>
            </a:r>
            <a:r>
              <a:rPr lang="es-AR" dirty="0" err="1" smtClean="0"/>
              <a:t>esMenorDeEdad</a:t>
            </a:r>
            <a:r>
              <a:rPr lang="es-AR" dirty="0" smtClean="0"/>
              <a:t> </a:t>
            </a:r>
            <a:r>
              <a:rPr lang="es-AR" dirty="0"/>
              <a:t>(</a:t>
            </a:r>
            <a:r>
              <a:rPr lang="es-AR" dirty="0" smtClean="0"/>
              <a:t>edad&lt;18)	</a:t>
            </a:r>
          </a:p>
          <a:p>
            <a:pPr lvl="1"/>
            <a:r>
              <a:rPr lang="es-AR" dirty="0" smtClean="0"/>
              <a:t>Definir </a:t>
            </a:r>
            <a:r>
              <a:rPr lang="es-AR" dirty="0" err="1" smtClean="0"/>
              <a:t>NombreFormateado</a:t>
            </a:r>
            <a:r>
              <a:rPr lang="es-AR" dirty="0" smtClean="0"/>
              <a:t> que toma un nombre y un apellido y devuelve el Apellido, Nombre.</a:t>
            </a:r>
            <a:endParaRPr lang="es-AR" dirty="0"/>
          </a:p>
          <a:p>
            <a:r>
              <a:rPr lang="es-AR" dirty="0" smtClean="0"/>
              <a:t>Verificar</a:t>
            </a:r>
          </a:p>
          <a:p>
            <a:pPr lvl="1"/>
            <a:r>
              <a:rPr lang="es-AR" dirty="0" err="1" smtClean="0"/>
              <a:t>EsMayorDeEdad</a:t>
            </a:r>
            <a:r>
              <a:rPr lang="es-AR" dirty="0" smtClean="0"/>
              <a:t>   19</a:t>
            </a:r>
          </a:p>
          <a:p>
            <a:pPr lvl="1"/>
            <a:r>
              <a:rPr lang="es-AR" dirty="0" err="1" smtClean="0"/>
              <a:t>EsMayorDeEdad</a:t>
            </a:r>
            <a:r>
              <a:rPr lang="es-AR" dirty="0" smtClean="0"/>
              <a:t>  17</a:t>
            </a:r>
          </a:p>
          <a:p>
            <a:pPr lvl="1"/>
            <a:r>
              <a:rPr lang="es-AR" dirty="0" smtClean="0"/>
              <a:t>:t </a:t>
            </a:r>
            <a:r>
              <a:rPr lang="es-AR" dirty="0" err="1" smtClean="0"/>
              <a:t>EsMayorDeEdad</a:t>
            </a:r>
            <a:endParaRPr lang="es-AR" dirty="0" smtClean="0"/>
          </a:p>
          <a:p>
            <a:pPr lvl="1"/>
            <a:r>
              <a:rPr lang="es-AR" dirty="0" smtClean="0"/>
              <a:t>:t </a:t>
            </a:r>
            <a:r>
              <a:rPr lang="es-AR" dirty="0" err="1" smtClean="0"/>
              <a:t>EsMayorDeEdad</a:t>
            </a:r>
            <a:r>
              <a:rPr lang="es-AR" dirty="0" smtClean="0"/>
              <a:t> 17</a:t>
            </a:r>
          </a:p>
          <a:p>
            <a:pPr lvl="1"/>
            <a:r>
              <a:rPr lang="es-AR" dirty="0" smtClean="0"/>
              <a:t>Definir </a:t>
            </a:r>
            <a:r>
              <a:rPr lang="es-AR" dirty="0" err="1" smtClean="0"/>
              <a:t>esMenorDeEdad</a:t>
            </a:r>
            <a:r>
              <a:rPr lang="es-AR" dirty="0" smtClean="0"/>
              <a:t> partiendo de </a:t>
            </a:r>
            <a:r>
              <a:rPr lang="es-AR" dirty="0" err="1" smtClean="0"/>
              <a:t>esMayorDeEdad</a:t>
            </a:r>
            <a:endParaRPr lang="es-AR" dirty="0" smtClean="0"/>
          </a:p>
          <a:p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7342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10000"/>
          </a:bodyPr>
          <a:lstStyle/>
          <a:p>
            <a:r>
              <a:rPr lang="es-AR" dirty="0" smtClean="0"/>
              <a:t>Ejercicios en </a:t>
            </a:r>
            <a:r>
              <a:rPr lang="es-AR" dirty="0" err="1" smtClean="0"/>
              <a:t>Haskell</a:t>
            </a:r>
            <a:endParaRPr lang="es-AR" dirty="0" smtClean="0"/>
          </a:p>
          <a:p>
            <a:pPr lvl="1"/>
            <a:r>
              <a:rPr lang="es-AR" dirty="0" smtClean="0"/>
              <a:t>Queremos saber que velocidad alcanzará la pelota a los 5 segundos si se la deja caer desde una ventana ubicada en el último piso de un edificio.</a:t>
            </a:r>
          </a:p>
          <a:p>
            <a:pPr lvl="1"/>
            <a:r>
              <a:rPr lang="es-AR" dirty="0"/>
              <a:t>Queremos saber que </a:t>
            </a:r>
            <a:r>
              <a:rPr lang="es-AR" dirty="0" smtClean="0"/>
              <a:t>distancia recorre </a:t>
            </a:r>
            <a:r>
              <a:rPr lang="es-AR" dirty="0"/>
              <a:t>la pelota a los 5 segundos si se la deja caer desde una ventana ubicada en el último piso de un </a:t>
            </a:r>
            <a:r>
              <a:rPr lang="es-AR" dirty="0" smtClean="0"/>
              <a:t>edificio.</a:t>
            </a:r>
          </a:p>
          <a:p>
            <a:pPr lvl="1"/>
            <a:r>
              <a:rPr lang="es-AR" dirty="0"/>
              <a:t>Queremos saber </a:t>
            </a:r>
            <a:r>
              <a:rPr lang="es-AR" dirty="0" smtClean="0"/>
              <a:t>si la pelota rebota contra el piso  a los 5 segundos si se la deja caer desde una ventana a </a:t>
            </a:r>
            <a:r>
              <a:rPr lang="es-AR" dirty="0"/>
              <a:t>80 m de altura</a:t>
            </a:r>
            <a:r>
              <a:rPr lang="es-AR" dirty="0" smtClean="0"/>
              <a:t>.</a:t>
            </a:r>
          </a:p>
          <a:p>
            <a:pPr lvl="3"/>
            <a:r>
              <a:rPr lang="es-AR" dirty="0" smtClean="0"/>
              <a:t>V = t * g</a:t>
            </a:r>
          </a:p>
          <a:p>
            <a:pPr lvl="3"/>
            <a:r>
              <a:rPr lang="es-AR" dirty="0" smtClean="0"/>
              <a:t>D = ½ * t </a:t>
            </a:r>
            <a:r>
              <a:rPr lang="es-AR" baseline="30000" dirty="0" smtClean="0"/>
              <a:t>2</a:t>
            </a:r>
            <a:r>
              <a:rPr lang="es-AR" dirty="0" smtClean="0"/>
              <a:t> * g</a:t>
            </a:r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5373216"/>
            <a:ext cx="13430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642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10000"/>
          </a:bodyPr>
          <a:lstStyle/>
          <a:p>
            <a:r>
              <a:rPr lang="es-AR" dirty="0" smtClean="0"/>
              <a:t>Ingresar en TryHaskell.org</a:t>
            </a:r>
          </a:p>
          <a:p>
            <a:pPr lvl="1"/>
            <a:r>
              <a:rPr lang="es-AR" dirty="0" smtClean="0"/>
              <a:t>Ejecutar ejemplos</a:t>
            </a:r>
          </a:p>
          <a:p>
            <a:pPr lvl="2"/>
            <a:r>
              <a:rPr lang="es-AR" dirty="0" smtClean="0"/>
              <a:t>2+2</a:t>
            </a:r>
          </a:p>
          <a:p>
            <a:pPr lvl="2"/>
            <a:r>
              <a:rPr lang="es-AR" dirty="0"/>
              <a:t>r</a:t>
            </a:r>
            <a:r>
              <a:rPr lang="es-AR" dirty="0" smtClean="0"/>
              <a:t>everse “Hola”</a:t>
            </a:r>
          </a:p>
          <a:p>
            <a:pPr lvl="2"/>
            <a:r>
              <a:rPr lang="es-AR" dirty="0" err="1"/>
              <a:t>e</a:t>
            </a:r>
            <a:r>
              <a:rPr lang="es-AR" dirty="0" err="1" smtClean="0"/>
              <a:t>ven</a:t>
            </a:r>
            <a:endParaRPr lang="es-AR" dirty="0" smtClean="0"/>
          </a:p>
          <a:p>
            <a:pPr lvl="2"/>
            <a:r>
              <a:rPr lang="es-AR" dirty="0" err="1"/>
              <a:t>o</a:t>
            </a:r>
            <a:r>
              <a:rPr lang="es-AR" dirty="0" err="1" smtClean="0"/>
              <a:t>dd</a:t>
            </a:r>
            <a:endParaRPr lang="es-AR" dirty="0" smtClean="0"/>
          </a:p>
          <a:p>
            <a:pPr lvl="2"/>
            <a:r>
              <a:rPr lang="es-AR" dirty="0" smtClean="0"/>
              <a:t>“hola” ++ “chau”</a:t>
            </a:r>
          </a:p>
          <a:p>
            <a:pPr lvl="2"/>
            <a:r>
              <a:rPr lang="es-AR" dirty="0" err="1"/>
              <a:t>e</a:t>
            </a:r>
            <a:r>
              <a:rPr lang="es-AR" dirty="0" err="1" smtClean="0"/>
              <a:t>lem</a:t>
            </a:r>
            <a:r>
              <a:rPr lang="es-AR" dirty="0" smtClean="0"/>
              <a:t> ‘f’ “elefante”</a:t>
            </a:r>
          </a:p>
          <a:p>
            <a:pPr lvl="2"/>
            <a:r>
              <a:rPr lang="es-AR" dirty="0" err="1" smtClean="0"/>
              <a:t>sqrt</a:t>
            </a:r>
            <a:r>
              <a:rPr lang="es-AR" dirty="0"/>
              <a:t> </a:t>
            </a:r>
            <a:r>
              <a:rPr lang="es-AR" dirty="0" smtClean="0"/>
              <a:t>3.3</a:t>
            </a:r>
          </a:p>
          <a:p>
            <a:pPr lvl="2"/>
            <a:r>
              <a:rPr lang="es-AR" dirty="0"/>
              <a:t>r</a:t>
            </a:r>
            <a:r>
              <a:rPr lang="es-AR" dirty="0" smtClean="0"/>
              <a:t>ound 3.5   </a:t>
            </a:r>
            <a:r>
              <a:rPr lang="es-AR" dirty="0" smtClean="0">
                <a:sym typeface="Wingdings" panose="05000000000000000000" pitchFamily="2" charset="2"/>
              </a:rPr>
              <a:t> Integral</a:t>
            </a:r>
          </a:p>
          <a:p>
            <a:pPr lvl="2"/>
            <a:r>
              <a:rPr lang="es-AR" dirty="0" err="1">
                <a:sym typeface="Wingdings" panose="05000000000000000000" pitchFamily="2" charset="2"/>
              </a:rPr>
              <a:t>t</a:t>
            </a:r>
            <a:r>
              <a:rPr lang="es-AR" dirty="0" err="1" smtClean="0">
                <a:sym typeface="Wingdings" panose="05000000000000000000" pitchFamily="2" charset="2"/>
              </a:rPr>
              <a:t>ake</a:t>
            </a:r>
            <a:r>
              <a:rPr lang="es-AR" dirty="0" smtClean="0">
                <a:sym typeface="Wingdings" panose="05000000000000000000" pitchFamily="2" charset="2"/>
              </a:rPr>
              <a:t> 3 “hola”</a:t>
            </a:r>
          </a:p>
          <a:p>
            <a:pPr lvl="2"/>
            <a:r>
              <a:rPr lang="es-AR" dirty="0" err="1">
                <a:sym typeface="Wingdings" panose="05000000000000000000" pitchFamily="2" charset="2"/>
              </a:rPr>
              <a:t>d</a:t>
            </a:r>
            <a:r>
              <a:rPr lang="es-AR" dirty="0" err="1" smtClean="0">
                <a:sym typeface="Wingdings" panose="05000000000000000000" pitchFamily="2" charset="2"/>
              </a:rPr>
              <a:t>rop</a:t>
            </a:r>
            <a:r>
              <a:rPr lang="es-AR" dirty="0" smtClean="0">
                <a:sym typeface="Wingdings" panose="05000000000000000000" pitchFamily="2" charset="2"/>
              </a:rPr>
              <a:t> 3 “hola”</a:t>
            </a: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17146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s-AR" dirty="0"/>
              <a:t>Ingresar en repl.it/</a:t>
            </a:r>
            <a:r>
              <a:rPr lang="es-AR" dirty="0" err="1"/>
              <a:t>languages</a:t>
            </a:r>
            <a:r>
              <a:rPr lang="es-AR" dirty="0"/>
              <a:t>/</a:t>
            </a:r>
            <a:r>
              <a:rPr lang="es-AR" dirty="0" err="1"/>
              <a:t>haskell</a:t>
            </a:r>
            <a:endParaRPr lang="es-AR" dirty="0"/>
          </a:p>
          <a:p>
            <a:pPr lvl="1"/>
            <a:r>
              <a:rPr lang="es-AR" dirty="0"/>
              <a:t>Editar programas en línea</a:t>
            </a:r>
          </a:p>
          <a:p>
            <a:pPr lvl="2"/>
            <a:r>
              <a:rPr lang="es-AR" dirty="0"/>
              <a:t>color "banana" = "</a:t>
            </a:r>
            <a:r>
              <a:rPr lang="es-AR" dirty="0" smtClean="0"/>
              <a:t>amarillo“</a:t>
            </a:r>
          </a:p>
          <a:p>
            <a:pPr lvl="2"/>
            <a:r>
              <a:rPr lang="es-AR" dirty="0" smtClean="0"/>
              <a:t>color </a:t>
            </a:r>
            <a:r>
              <a:rPr lang="es-AR" dirty="0"/>
              <a:t>"manzana" = "</a:t>
            </a:r>
            <a:r>
              <a:rPr lang="es-AR" dirty="0" smtClean="0"/>
              <a:t>rojo“</a:t>
            </a:r>
          </a:p>
          <a:p>
            <a:pPr lvl="2"/>
            <a:r>
              <a:rPr lang="es-AR" dirty="0" smtClean="0"/>
              <a:t>color </a:t>
            </a:r>
            <a:r>
              <a:rPr lang="es-AR" dirty="0"/>
              <a:t>"</a:t>
            </a:r>
            <a:r>
              <a:rPr lang="es-AR" dirty="0" err="1"/>
              <a:t>limon</a:t>
            </a:r>
            <a:r>
              <a:rPr lang="es-AR" dirty="0"/>
              <a:t>" = "</a:t>
            </a:r>
            <a:r>
              <a:rPr lang="es-AR" dirty="0" smtClean="0"/>
              <a:t>amarillo“</a:t>
            </a:r>
          </a:p>
          <a:p>
            <a:pPr lvl="1"/>
            <a:r>
              <a:rPr lang="es-AR" dirty="0" smtClean="0"/>
              <a:t>Verificar en Consola</a:t>
            </a:r>
          </a:p>
          <a:p>
            <a:pPr lvl="2"/>
            <a:r>
              <a:rPr lang="es-AR" dirty="0"/>
              <a:t>c</a:t>
            </a:r>
            <a:r>
              <a:rPr lang="es-AR" dirty="0" smtClean="0"/>
              <a:t>olor “banana”</a:t>
            </a:r>
          </a:p>
          <a:p>
            <a:pPr lvl="2"/>
            <a:r>
              <a:rPr lang="en-US" dirty="0" smtClean="0"/>
              <a:t>color </a:t>
            </a:r>
            <a:r>
              <a:rPr lang="en-US" dirty="0"/>
              <a:t>"</a:t>
            </a:r>
            <a:r>
              <a:rPr lang="en-US" dirty="0" err="1" smtClean="0"/>
              <a:t>naranja</a:t>
            </a:r>
            <a:r>
              <a:rPr lang="en-US" dirty="0" smtClean="0"/>
              <a:t>“</a:t>
            </a:r>
          </a:p>
          <a:p>
            <a:pPr lvl="3"/>
            <a:r>
              <a:rPr lang="en-US" dirty="0" smtClean="0"/>
              <a:t>*** </a:t>
            </a:r>
            <a:r>
              <a:rPr lang="en-US" dirty="0"/>
              <a:t>Exception: app/</a:t>
            </a:r>
            <a:r>
              <a:rPr lang="en-US" dirty="0" err="1"/>
              <a:t>Main.hs</a:t>
            </a:r>
            <a:r>
              <a:rPr lang="en-US" dirty="0"/>
              <a:t>:(1,1)-(3,26): Non-exhaustive patterns in function </a:t>
            </a:r>
            <a:r>
              <a:rPr lang="en-US" dirty="0" smtClean="0"/>
              <a:t>color</a:t>
            </a:r>
          </a:p>
          <a:p>
            <a:r>
              <a:rPr lang="en-US" dirty="0" smtClean="0"/>
              <a:t>Pattern Matching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4998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5241</TotalTime>
  <Words>1266</Words>
  <Application>Microsoft Office PowerPoint</Application>
  <PresentationFormat>Presentación en pantalla (4:3)</PresentationFormat>
  <Paragraphs>272</Paragraphs>
  <Slides>28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29" baseType="lpstr">
      <vt:lpstr>Tema de Office</vt:lpstr>
      <vt:lpstr>Paradigmas de Programación</vt:lpstr>
      <vt:lpstr>Que es un programa vs un paradigma</vt:lpstr>
      <vt:lpstr>Imperativo o Declarativo</vt:lpstr>
      <vt:lpstr>Declaratividad</vt:lpstr>
      <vt:lpstr>Análisis de un programa</vt:lpstr>
      <vt:lpstr>Expresividad</vt:lpstr>
      <vt:lpstr>Abstracción</vt:lpstr>
      <vt:lpstr>Imperativo a Declarativo</vt:lpstr>
      <vt:lpstr>Lenguaje vs Paradigma</vt:lpstr>
      <vt:lpstr>Paradigma Funcional</vt:lpstr>
      <vt:lpstr>Paradigma Funcional</vt:lpstr>
      <vt:lpstr>Paradigma Funcional</vt:lpstr>
      <vt:lpstr>Paradigma Funcional - Representación</vt:lpstr>
      <vt:lpstr>Paradigma Funcional</vt:lpstr>
      <vt:lpstr>Uso de interface STACK – para HASKELL</vt:lpstr>
      <vt:lpstr>Uso de interface STACK – para HASKELL</vt:lpstr>
      <vt:lpstr>Uso de interface STACK – para HASKELL</vt:lpstr>
      <vt:lpstr>Uso de interface STACK – para HASKELL</vt:lpstr>
      <vt:lpstr>Uso de interface HASKELL</vt:lpstr>
      <vt:lpstr>Modelar Maderera - Composición</vt:lpstr>
      <vt:lpstr>Modelar Maderera - Ejercicio</vt:lpstr>
      <vt:lpstr>Paradigma Funcional - Haskell</vt:lpstr>
      <vt:lpstr>Paradigma Funcional</vt:lpstr>
      <vt:lpstr>Paradigma Funcional </vt:lpstr>
      <vt:lpstr>Paradigma Funcional - Haskell</vt:lpstr>
      <vt:lpstr>Paradigma Funcional</vt:lpstr>
      <vt:lpstr>Paradigma Funcional - Haskell</vt:lpstr>
      <vt:lpstr>Paradigma Funcional - Haskell</vt:lpstr>
    </vt:vector>
  </TitlesOfParts>
  <Company>ARG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Paradigmas de Programación</dc:title>
  <dc:creator>ARG</dc:creator>
  <cp:lastModifiedBy>ARG</cp:lastModifiedBy>
  <cp:revision>58</cp:revision>
  <dcterms:created xsi:type="dcterms:W3CDTF">2024-03-08T18:13:29Z</dcterms:created>
  <dcterms:modified xsi:type="dcterms:W3CDTF">2024-03-14T18:56:32Z</dcterms:modified>
</cp:coreProperties>
</file>